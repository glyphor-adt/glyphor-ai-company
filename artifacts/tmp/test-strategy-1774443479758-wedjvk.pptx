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E0FF"/>
          </a:solidFill>
          <a:ln/>
        </p:spPr>
      </p:sp>
      <p:pic>
        <p:nvPicPr>
          <p:cNvPr id="3" name="Image 0" descr="preencoded.png">    </p:cNvPr>
          <p:cNvPicPr>
            <a:picLocks noChangeAspect="1"/>
          </p:cNvPicPr>
          <p:nvPr/>
        </p:nvPicPr>
        <p:blipFill>
          <a:blip r:embed="rId1"/>
          <a:stretch>
            <a:fillRect/>
          </a:stretch>
        </p:blipFill>
        <p:spPr>
          <a:xfrm>
            <a:off x="365760" y="182880"/>
            <a:ext cx="411480" cy="457200"/>
          </a:xfrm>
          <a:prstGeom prst="rect">
            <a:avLst/>
          </a:prstGeom>
        </p:spPr>
      </p:pic>
      <p:sp>
        <p:nvSpPr>
          <p:cNvPr id="4" name="Text 1"/>
          <p:cNvSpPr/>
          <p:nvPr/>
        </p:nvSpPr>
        <p:spPr>
          <a:xfrm>
            <a:off x="822960" y="274320"/>
            <a:ext cx="8229600" cy="0"/>
          </a:xfrm>
          <a:prstGeom prst="rect">
            <a:avLst/>
          </a:prstGeom>
          <a:noFill/>
          <a:ln/>
        </p:spPr>
        <p:txBody>
          <a:bodyPr wrap="square" rtlCol="0" anchor="ctr"/>
          <a:lstStyle/>
          <a:p>
            <a:pPr indent="0" marL="0">
              <a:buNone/>
            </a:pPr>
            <a:r>
              <a:rPr lang="en-US" sz="1300" b="1" spc="500" kern="0" dirty="0">
                <a:solidFill>
                  <a:srgbClr val="00E0FF"/>
                </a:solidFill>
                <a:latin typeface="Segoe UI" pitchFamily="34" charset="0"/>
                <a:ea typeface="Segoe UI" pitchFamily="34" charset="-122"/>
                <a:cs typeface="Segoe UI" pitchFamily="34" charset="-120"/>
              </a:rPr>
              <a:t>GLYPHOR</a:t>
            </a:r>
            <a:endParaRPr lang="en-US" sz="1300" dirty="0"/>
          </a:p>
        </p:txBody>
      </p:sp>
      <p:sp>
        <p:nvSpPr>
          <p:cNvPr id="5" name="Shape 2"/>
          <p:cNvSpPr/>
          <p:nvPr/>
        </p:nvSpPr>
        <p:spPr>
          <a:xfrm>
            <a:off x="548640" y="731520"/>
            <a:ext cx="1280160" cy="36576"/>
          </a:xfrm>
          <a:prstGeom prst="rect">
            <a:avLst/>
          </a:prstGeom>
          <a:solidFill>
            <a:srgbClr val="00E0FF"/>
          </a:solidFill>
          <a:ln/>
        </p:spPr>
      </p:sp>
      <p:sp>
        <p:nvSpPr>
          <p:cNvPr id="6" name="Text 3"/>
          <p:cNvSpPr/>
          <p:nvPr/>
        </p:nvSpPr>
        <p:spPr>
          <a:xfrm>
            <a:off x="548640" y="1463040"/>
            <a:ext cx="7772400" cy="0"/>
          </a:xfrm>
          <a:prstGeom prst="rect">
            <a:avLst/>
          </a:prstGeom>
          <a:noFill/>
          <a:ln/>
        </p:spPr>
        <p:txBody>
          <a:bodyPr wrap="square" rtlCol="0" anchor="ctr"/>
          <a:lstStyle/>
          <a:p>
            <a:pPr indent="0" marL="0">
              <a:lnSpc>
                <a:spcPct val="110000"/>
              </a:lnSpc>
              <a:buNone/>
            </a:pPr>
            <a:r>
              <a:rPr lang="en-US" sz="3600" b="1" dirty="0">
                <a:solidFill>
                  <a:srgbClr val="E5E7EB"/>
                </a:solidFill>
                <a:latin typeface="Segoe UI" pitchFamily="34" charset="0"/>
                <a:ea typeface="Segoe UI" pitchFamily="34" charset="-122"/>
                <a:cs typeface="Segoe UI" pitchFamily="34" charset="-120"/>
              </a:rPr>
              <a:t>Competitive Landscape</a:t>
            </a:r>
            <a:endParaRPr lang="en-US" sz="3600" dirty="0"/>
          </a:p>
        </p:txBody>
      </p:sp>
      <p:sp>
        <p:nvSpPr>
          <p:cNvPr id="7" name="Text 4"/>
          <p:cNvSpPr/>
          <p:nvPr/>
        </p:nvSpPr>
        <p:spPr>
          <a:xfrm>
            <a:off x="548640" y="2560320"/>
            <a:ext cx="7772400" cy="0"/>
          </a:xfrm>
          <a:prstGeom prst="rect">
            <a:avLst/>
          </a:prstGeom>
          <a:noFill/>
          <a:ln/>
        </p:spPr>
        <p:txBody>
          <a:bodyPr wrap="square" rtlCol="0" anchor="ctr"/>
          <a:lstStyle/>
          <a:p>
            <a:pPr indent="0" marL="0">
              <a:lnSpc>
                <a:spcPct val="130000"/>
              </a:lnSpc>
              <a:buNone/>
            </a:pPr>
            <a:r>
              <a:rPr lang="en-US" sz="1600" dirty="0">
                <a:solidFill>
                  <a:srgbClr val="8B95A5"/>
                </a:solidFill>
                <a:latin typeface="Segoe UI" pitchFamily="34" charset="0"/>
                <a:ea typeface="Segoe UI" pitchFamily="34" charset="-122"/>
                <a:cs typeface="Segoe UI" pitchFamily="34" charset="-120"/>
              </a:rPr>
              <a:t>Autonomous Agents</a:t>
            </a:r>
            <a:endParaRPr lang="en-US" sz="1600" dirty="0"/>
          </a:p>
        </p:txBody>
      </p:sp>
      <p:sp>
        <p:nvSpPr>
          <p:cNvPr id="8" name="Text 5"/>
          <p:cNvSpPr/>
          <p:nvPr/>
        </p:nvSpPr>
        <p:spPr>
          <a:xfrm>
            <a:off x="548640" y="4023360"/>
            <a:ext cx="7315200" cy="0"/>
          </a:xfrm>
          <a:prstGeom prst="rect">
            <a:avLst/>
          </a:prstGeom>
          <a:noFill/>
          <a:ln/>
        </p:spPr>
        <p:txBody>
          <a:bodyPr wrap="square" rtlCol="0" anchor="ctr"/>
          <a:lstStyle/>
          <a:p>
            <a:pPr indent="0" marL="0">
              <a:buNone/>
            </a:pPr>
            <a:r>
              <a:rPr lang="en-US" sz="1100" dirty="0">
                <a:solidFill>
                  <a:srgbClr val="8B95A5"/>
                </a:solidFill>
                <a:latin typeface="Segoe UI" pitchFamily="34" charset="0"/>
                <a:ea typeface="Segoe UI" pitchFamily="34" charset="-122"/>
                <a:cs typeface="Segoe UI" pitchFamily="34" charset="-120"/>
              </a:rPr>
              <a:t>Depth: deep · 0 sources · 0 searches · 3/25/2026</a:t>
            </a:r>
            <a:endParaRPr lang="en-US" sz="1100" dirty="0"/>
          </a:p>
        </p:txBody>
      </p:sp>
      <p:sp>
        <p:nvSpPr>
          <p:cNvPr id="9" name="Shape 6"/>
          <p:cNvSpPr/>
          <p:nvPr/>
        </p:nvSpPr>
        <p:spPr>
          <a:xfrm>
            <a:off x="0" y="4663440"/>
            <a:ext cx="9144000" cy="137160"/>
          </a:xfrm>
          <a:prstGeom prst="rect">
            <a:avLst/>
          </a:prstGeom>
          <a:solidFill>
            <a:srgbClr val="00E0FF"/>
          </a:solidFill>
          <a:ln/>
        </p:spPr>
      </p:sp>
      <p:sp>
        <p:nvSpPr>
          <p:cNvPr id="10" name="Text 7"/>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E0FF"/>
          </a:solidFill>
          <a:ln/>
        </p:spPr>
      </p:sp>
      <p:sp>
        <p:nvSpPr>
          <p:cNvPr id="3" name="Shape 1"/>
          <p:cNvSpPr/>
          <p:nvPr/>
        </p:nvSpPr>
        <p:spPr>
          <a:xfrm>
            <a:off x="0" y="0"/>
            <a:ext cx="54864" cy="5148072"/>
          </a:xfrm>
          <a:prstGeom prst="rect">
            <a:avLst/>
          </a:prstGeom>
          <a:solidFill>
            <a:srgbClr val="00E0FF"/>
          </a:solidFill>
          <a:ln/>
        </p:spPr>
      </p:sp>
      <p:sp>
        <p:nvSpPr>
          <p:cNvPr id="4" name="Text 2"/>
          <p:cNvSpPr/>
          <p:nvPr/>
        </p:nvSpPr>
        <p:spPr>
          <a:xfrm>
            <a:off x="548640" y="228600"/>
            <a:ext cx="8229600" cy="0"/>
          </a:xfrm>
          <a:prstGeom prst="rect">
            <a:avLst/>
          </a:prstGeom>
          <a:noFill/>
          <a:ln/>
        </p:spPr>
        <p:txBody>
          <a:bodyPr wrap="square" rtlCol="0" anchor="ctr"/>
          <a:lstStyle/>
          <a:p>
            <a:pPr indent="0" marL="0">
              <a:buNone/>
            </a:pPr>
            <a:r>
              <a:rPr lang="en-US" sz="2400" b="1" dirty="0">
                <a:solidFill>
                  <a:srgbClr val="00E0FF"/>
                </a:solidFill>
                <a:latin typeface="Segoe UI" pitchFamily="34" charset="0"/>
                <a:ea typeface="Segoe UI" pitchFamily="34" charset="-122"/>
                <a:cs typeface="Segoe UI" pitchFamily="34" charset="-120"/>
              </a:rPr>
              <a:t>Executive Summary</a:t>
            </a:r>
            <a:endParaRPr lang="en-US" sz="2400" dirty="0"/>
          </a:p>
        </p:txBody>
      </p:sp>
      <p:sp>
        <p:nvSpPr>
          <p:cNvPr id="5" name="Shape 3"/>
          <p:cNvSpPr/>
          <p:nvPr/>
        </p:nvSpPr>
        <p:spPr>
          <a:xfrm>
            <a:off x="548640" y="640080"/>
            <a:ext cx="1097280" cy="32004"/>
          </a:xfrm>
          <a:prstGeom prst="rect">
            <a:avLst/>
          </a:prstGeom>
          <a:solidFill>
            <a:srgbClr val="00E0FF"/>
          </a:solidFill>
          <a:ln/>
        </p:spPr>
      </p:sp>
      <p:sp>
        <p:nvSpPr>
          <p:cNvPr id="6" name="Shape 4"/>
          <p:cNvSpPr/>
          <p:nvPr/>
        </p:nvSpPr>
        <p:spPr>
          <a:xfrm>
            <a:off x="457200" y="868680"/>
            <a:ext cx="8229600" cy="3474720"/>
          </a:xfrm>
          <a:prstGeom prst="roundRect">
            <a:avLst>
              <a:gd name="adj" fmla="val 2105"/>
            </a:avLst>
          </a:prstGeom>
          <a:solidFill>
            <a:srgbClr val="1A1D27"/>
          </a:solidFill>
          <a:ln w="6350">
            <a:solidFill>
              <a:srgbClr val="2D3348"/>
            </a:solidFill>
            <a:prstDash val="solid"/>
          </a:ln>
        </p:spPr>
      </p:sp>
      <p:sp>
        <p:nvSpPr>
          <p:cNvPr id="7" name="Text 5"/>
          <p:cNvSpPr/>
          <p:nvPr/>
        </p:nvSpPr>
        <p:spPr>
          <a:xfrm>
            <a:off x="731520" y="1005840"/>
            <a:ext cx="7680960" cy="3200400"/>
          </a:xfrm>
          <a:prstGeom prst="rect">
            <a:avLst/>
          </a:prstGeom>
          <a:noFill/>
          <a:ln/>
        </p:spPr>
        <p:txBody>
          <a:bodyPr wrap="square" rtlCol="0" anchor="t"/>
          <a:lstStyle/>
          <a:p>
            <a:pPr indent="0" marL="0">
              <a:lnSpc>
                <a:spcPct val="140000"/>
              </a:lnSpc>
              <a:buNone/>
            </a:pPr>
            <a:r>
              <a:rPr lang="en-US" sz="1350" dirty="0">
                <a:solidFill>
                  <a:srgbClr val="E5E7EB"/>
                </a:solidFill>
                <a:latin typeface="Segoe UI" pitchFamily="34" charset="0"/>
                <a:ea typeface="Segoe UI" pitchFamily="34" charset="-122"/>
                <a:cs typeface="Segoe UI" pitchFamily="34" charset="-120"/>
              </a:rPr>
              <a:t>This founder-grade strategy report analyzes the competitive landscape for Glyphor, focusing on its dual-engine ecosystem: Glyphor Fuse (Autonomous Development Teams/ADT) and Glyphor Pulse (AI Video/Creative). As of early 2026, the autonomous AI agent market is experiencing explosive growth—projected to reach $199 billion by 2034—characterized by extreme capital concentration at the top (e.g., Cursor reaching $1.2B ARR, Cognition's Devin achieving a $10.2B valuation) juxtaposed against a fragmented ecosystem of over 1,150 tools. However, the market is navigating a severe 'trust crisis.' Gartner predicts that 40% of enterprise agentic AI projects will be canceled by 2027 due to 'agent washing'—the deceptive rebranding of static RPA or chatbots as autonomous systems. To succeed, Glyphor Fuse must differentiate its ADT from both continuous co-editors (like Cursor) and asynchronous delegators (like Devin) by proving enterprise-grade governance, pipeline stability, and security. Notably, while Glyphor ADT claims to operate 24/7 as a full-stack team, critical objective performance metrics such as SWE-bench scores are currently unavailable and must be established to validate claims against incumbents. Concurrently, Glyphor Pulse operates in the hyper-competitive AI video generation sector against powerhouses like Google Veo 3.1 and OpenAI Sora 2, requiring a distinct focus on workflow integration and template-driven value rather than purely competing on foundational model parameters. Strategic success for Glyphor hinges on proving verifiable ROI, establishing robust security protocols, and executing true multi-agent orchestration.</a:t>
            </a:r>
            <a:endParaRPr lang="en-US" sz="1350" dirty="0"/>
          </a:p>
        </p:txBody>
      </p:sp>
      <p:sp>
        <p:nvSpPr>
          <p:cNvPr id="8" name="Shape 6"/>
          <p:cNvSpPr/>
          <p:nvPr/>
        </p:nvSpPr>
        <p:spPr>
          <a:xfrm>
            <a:off x="457200" y="4434840"/>
            <a:ext cx="1554480" cy="502920"/>
          </a:xfrm>
          <a:prstGeom prst="roundRect">
            <a:avLst>
              <a:gd name="adj" fmla="val 9091"/>
            </a:avLst>
          </a:prstGeom>
          <a:solidFill>
            <a:srgbClr val="1A1D27"/>
          </a:solidFill>
          <a:ln w="12700">
            <a:solidFill>
              <a:srgbClr val="34D399"/>
            </a:solidFill>
            <a:prstDash val="solid"/>
          </a:ln>
        </p:spPr>
      </p:sp>
      <p:sp>
        <p:nvSpPr>
          <p:cNvPr id="9" name="Text 7"/>
          <p:cNvSpPr/>
          <p:nvPr/>
        </p:nvSpPr>
        <p:spPr>
          <a:xfrm>
            <a:off x="457200" y="4407408"/>
            <a:ext cx="1554480" cy="0"/>
          </a:xfrm>
          <a:prstGeom prst="rect">
            <a:avLst/>
          </a:prstGeom>
          <a:noFill/>
          <a:ln/>
        </p:spPr>
        <p:txBody>
          <a:bodyPr wrap="square" rtlCol="0" anchor="ctr"/>
          <a:lstStyle/>
          <a:p>
            <a:pPr algn="ctr" indent="0" marL="0">
              <a:buNone/>
            </a:pPr>
            <a:r>
              <a:rPr lang="en-US" sz="1800" b="1" dirty="0">
                <a:solidFill>
                  <a:srgbClr val="34D399"/>
                </a:solidFill>
                <a:latin typeface="Segoe UI" pitchFamily="34" charset="0"/>
                <a:ea typeface="Segoe UI" pitchFamily="34" charset="-122"/>
                <a:cs typeface="Segoe UI" pitchFamily="34" charset="-120"/>
              </a:rPr>
              <a:t>4</a:t>
            </a:r>
            <a:endParaRPr lang="en-US" sz="1800" dirty="0"/>
          </a:p>
        </p:txBody>
      </p:sp>
      <p:sp>
        <p:nvSpPr>
          <p:cNvPr id="10" name="Text 8"/>
          <p:cNvSpPr/>
          <p:nvPr/>
        </p:nvSpPr>
        <p:spPr>
          <a:xfrm>
            <a:off x="457200" y="4645152"/>
            <a:ext cx="155448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Strengths</a:t>
            </a:r>
            <a:endParaRPr lang="en-US" sz="1000" dirty="0"/>
          </a:p>
        </p:txBody>
      </p:sp>
      <p:sp>
        <p:nvSpPr>
          <p:cNvPr id="11" name="Shape 9"/>
          <p:cNvSpPr/>
          <p:nvPr/>
        </p:nvSpPr>
        <p:spPr>
          <a:xfrm>
            <a:off x="2148840" y="4434840"/>
            <a:ext cx="1554480" cy="502920"/>
          </a:xfrm>
          <a:prstGeom prst="roundRect">
            <a:avLst>
              <a:gd name="adj" fmla="val 9091"/>
            </a:avLst>
          </a:prstGeom>
          <a:solidFill>
            <a:srgbClr val="1A1D27"/>
          </a:solidFill>
          <a:ln w="12700">
            <a:solidFill>
              <a:srgbClr val="FB7185"/>
            </a:solidFill>
            <a:prstDash val="solid"/>
          </a:ln>
        </p:spPr>
      </p:sp>
      <p:sp>
        <p:nvSpPr>
          <p:cNvPr id="12" name="Text 10"/>
          <p:cNvSpPr/>
          <p:nvPr/>
        </p:nvSpPr>
        <p:spPr>
          <a:xfrm>
            <a:off x="2148840" y="4407408"/>
            <a:ext cx="1554480" cy="0"/>
          </a:xfrm>
          <a:prstGeom prst="rect">
            <a:avLst/>
          </a:prstGeom>
          <a:noFill/>
          <a:ln/>
        </p:spPr>
        <p:txBody>
          <a:bodyPr wrap="square" rtlCol="0" anchor="ctr"/>
          <a:lstStyle/>
          <a:p>
            <a:pPr algn="ctr" indent="0" marL="0">
              <a:buNone/>
            </a:pPr>
            <a:r>
              <a:rPr lang="en-US" sz="1800" b="1" dirty="0">
                <a:solidFill>
                  <a:srgbClr val="FB7185"/>
                </a:solidFill>
                <a:latin typeface="Segoe UI" pitchFamily="34" charset="0"/>
                <a:ea typeface="Segoe UI" pitchFamily="34" charset="-122"/>
                <a:cs typeface="Segoe UI" pitchFamily="34" charset="-120"/>
              </a:rPr>
              <a:t>4</a:t>
            </a:r>
            <a:endParaRPr lang="en-US" sz="1800" dirty="0"/>
          </a:p>
        </p:txBody>
      </p:sp>
      <p:sp>
        <p:nvSpPr>
          <p:cNvPr id="13" name="Text 11"/>
          <p:cNvSpPr/>
          <p:nvPr/>
        </p:nvSpPr>
        <p:spPr>
          <a:xfrm>
            <a:off x="2148840" y="4645152"/>
            <a:ext cx="155448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Weaknesses</a:t>
            </a:r>
            <a:endParaRPr lang="en-US" sz="1000" dirty="0"/>
          </a:p>
        </p:txBody>
      </p:sp>
      <p:sp>
        <p:nvSpPr>
          <p:cNvPr id="14" name="Shape 12"/>
          <p:cNvSpPr/>
          <p:nvPr/>
        </p:nvSpPr>
        <p:spPr>
          <a:xfrm>
            <a:off x="3840480" y="4434840"/>
            <a:ext cx="1554480" cy="502920"/>
          </a:xfrm>
          <a:prstGeom prst="roundRect">
            <a:avLst>
              <a:gd name="adj" fmla="val 9091"/>
            </a:avLst>
          </a:prstGeom>
          <a:solidFill>
            <a:srgbClr val="1A1D27"/>
          </a:solidFill>
          <a:ln w="12700">
            <a:solidFill>
              <a:srgbClr val="00E0FF"/>
            </a:solidFill>
            <a:prstDash val="solid"/>
          </a:ln>
        </p:spPr>
      </p:sp>
      <p:sp>
        <p:nvSpPr>
          <p:cNvPr id="15" name="Text 13"/>
          <p:cNvSpPr/>
          <p:nvPr/>
        </p:nvSpPr>
        <p:spPr>
          <a:xfrm>
            <a:off x="3840480" y="4407408"/>
            <a:ext cx="1554480" cy="0"/>
          </a:xfrm>
          <a:prstGeom prst="rect">
            <a:avLst/>
          </a:prstGeom>
          <a:noFill/>
          <a:ln/>
        </p:spPr>
        <p:txBody>
          <a:bodyPr wrap="square" rtlCol="0" anchor="ctr"/>
          <a:lstStyle/>
          <a:p>
            <a:pPr algn="ctr" indent="0" marL="0">
              <a:buNone/>
            </a:pPr>
            <a:r>
              <a:rPr lang="en-US" sz="1800" b="1" dirty="0">
                <a:solidFill>
                  <a:srgbClr val="00E0FF"/>
                </a:solidFill>
                <a:latin typeface="Segoe UI" pitchFamily="34" charset="0"/>
                <a:ea typeface="Segoe UI" pitchFamily="34" charset="-122"/>
                <a:cs typeface="Segoe UI" pitchFamily="34" charset="-120"/>
              </a:rPr>
              <a:t>4</a:t>
            </a:r>
            <a:endParaRPr lang="en-US" sz="1800" dirty="0"/>
          </a:p>
        </p:txBody>
      </p:sp>
      <p:sp>
        <p:nvSpPr>
          <p:cNvPr id="16" name="Text 14"/>
          <p:cNvSpPr/>
          <p:nvPr/>
        </p:nvSpPr>
        <p:spPr>
          <a:xfrm>
            <a:off x="3840480" y="4645152"/>
            <a:ext cx="155448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Opportunities</a:t>
            </a:r>
            <a:endParaRPr lang="en-US" sz="1000" dirty="0"/>
          </a:p>
        </p:txBody>
      </p:sp>
      <p:sp>
        <p:nvSpPr>
          <p:cNvPr id="17" name="Shape 15"/>
          <p:cNvSpPr/>
          <p:nvPr/>
        </p:nvSpPr>
        <p:spPr>
          <a:xfrm>
            <a:off x="5532120" y="4434840"/>
            <a:ext cx="1554480" cy="502920"/>
          </a:xfrm>
          <a:prstGeom prst="roundRect">
            <a:avLst>
              <a:gd name="adj" fmla="val 9091"/>
            </a:avLst>
          </a:prstGeom>
          <a:solidFill>
            <a:srgbClr val="1A1D27"/>
          </a:solidFill>
          <a:ln w="12700">
            <a:solidFill>
              <a:srgbClr val="FBBF24"/>
            </a:solidFill>
            <a:prstDash val="solid"/>
          </a:ln>
        </p:spPr>
      </p:sp>
      <p:sp>
        <p:nvSpPr>
          <p:cNvPr id="18" name="Text 16"/>
          <p:cNvSpPr/>
          <p:nvPr/>
        </p:nvSpPr>
        <p:spPr>
          <a:xfrm>
            <a:off x="5532120" y="4407408"/>
            <a:ext cx="1554480" cy="0"/>
          </a:xfrm>
          <a:prstGeom prst="rect">
            <a:avLst/>
          </a:prstGeom>
          <a:noFill/>
          <a:ln/>
        </p:spPr>
        <p:txBody>
          <a:bodyPr wrap="square" rtlCol="0" anchor="ctr"/>
          <a:lstStyle/>
          <a:p>
            <a:pPr algn="ctr" indent="0" marL="0">
              <a:buNone/>
            </a:pPr>
            <a:r>
              <a:rPr lang="en-US" sz="1800" b="1" dirty="0">
                <a:solidFill>
                  <a:srgbClr val="FBBF24"/>
                </a:solidFill>
                <a:latin typeface="Segoe UI" pitchFamily="34" charset="0"/>
                <a:ea typeface="Segoe UI" pitchFamily="34" charset="-122"/>
                <a:cs typeface="Segoe UI" pitchFamily="34" charset="-120"/>
              </a:rPr>
              <a:t>4</a:t>
            </a:r>
            <a:endParaRPr lang="en-US" sz="1800" dirty="0"/>
          </a:p>
        </p:txBody>
      </p:sp>
      <p:sp>
        <p:nvSpPr>
          <p:cNvPr id="19" name="Text 17"/>
          <p:cNvSpPr/>
          <p:nvPr/>
        </p:nvSpPr>
        <p:spPr>
          <a:xfrm>
            <a:off x="5532120" y="4645152"/>
            <a:ext cx="155448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Threats</a:t>
            </a:r>
            <a:endParaRPr lang="en-US" sz="1000" dirty="0"/>
          </a:p>
        </p:txBody>
      </p:sp>
      <p:sp>
        <p:nvSpPr>
          <p:cNvPr id="20" name="Shape 18"/>
          <p:cNvSpPr/>
          <p:nvPr/>
        </p:nvSpPr>
        <p:spPr>
          <a:xfrm>
            <a:off x="7223760" y="4434840"/>
            <a:ext cx="1554480" cy="502920"/>
          </a:xfrm>
          <a:prstGeom prst="roundRect">
            <a:avLst>
              <a:gd name="adj" fmla="val 9091"/>
            </a:avLst>
          </a:prstGeom>
          <a:solidFill>
            <a:srgbClr val="1A1D27"/>
          </a:solidFill>
          <a:ln w="12700">
            <a:solidFill>
              <a:srgbClr val="623CEA"/>
            </a:solidFill>
            <a:prstDash val="solid"/>
          </a:ln>
        </p:spPr>
      </p:sp>
      <p:sp>
        <p:nvSpPr>
          <p:cNvPr id="21" name="Text 19"/>
          <p:cNvSpPr/>
          <p:nvPr/>
        </p:nvSpPr>
        <p:spPr>
          <a:xfrm>
            <a:off x="7223760" y="4407408"/>
            <a:ext cx="1554480" cy="0"/>
          </a:xfrm>
          <a:prstGeom prst="rect">
            <a:avLst/>
          </a:prstGeom>
          <a:noFill/>
          <a:ln/>
        </p:spPr>
        <p:txBody>
          <a:bodyPr wrap="square" rtlCol="0" anchor="ctr"/>
          <a:lstStyle/>
          <a:p>
            <a:pPr algn="ctr" indent="0" marL="0">
              <a:buNone/>
            </a:pPr>
            <a:r>
              <a:rPr lang="en-US" sz="1800" b="1" dirty="0">
                <a:solidFill>
                  <a:srgbClr val="623CEA"/>
                </a:solidFill>
                <a:latin typeface="Segoe UI" pitchFamily="34" charset="0"/>
                <a:ea typeface="Segoe UI" pitchFamily="34" charset="-122"/>
                <a:cs typeface="Segoe UI" pitchFamily="34" charset="-120"/>
              </a:rPr>
              <a:t>4</a:t>
            </a:r>
            <a:endParaRPr lang="en-US" sz="1800" dirty="0"/>
          </a:p>
        </p:txBody>
      </p:sp>
      <p:sp>
        <p:nvSpPr>
          <p:cNvPr id="22" name="Text 20"/>
          <p:cNvSpPr/>
          <p:nvPr/>
        </p:nvSpPr>
        <p:spPr>
          <a:xfrm>
            <a:off x="7223760" y="4645152"/>
            <a:ext cx="155448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Actions</a:t>
            </a:r>
            <a:endParaRPr lang="en-US" sz="1000" dirty="0"/>
          </a:p>
        </p:txBody>
      </p:sp>
      <p:sp>
        <p:nvSpPr>
          <p:cNvPr id="23" name="Shape 21"/>
          <p:cNvSpPr/>
          <p:nvPr/>
        </p:nvSpPr>
        <p:spPr>
          <a:xfrm>
            <a:off x="0" y="4663440"/>
            <a:ext cx="9144000" cy="137160"/>
          </a:xfrm>
          <a:prstGeom prst="rect">
            <a:avLst/>
          </a:prstGeom>
          <a:solidFill>
            <a:srgbClr val="00E0FF"/>
          </a:solidFill>
          <a:ln/>
        </p:spPr>
      </p:sp>
      <p:sp>
        <p:nvSpPr>
          <p:cNvPr id="24" name="Text 22"/>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E0FF"/>
          </a:solidFill>
          <a:ln/>
        </p:spPr>
      </p:sp>
      <p:sp>
        <p:nvSpPr>
          <p:cNvPr id="3" name="Shape 1"/>
          <p:cNvSpPr/>
          <p:nvPr/>
        </p:nvSpPr>
        <p:spPr>
          <a:xfrm>
            <a:off x="0" y="0"/>
            <a:ext cx="54864" cy="5148072"/>
          </a:xfrm>
          <a:prstGeom prst="rect">
            <a:avLst/>
          </a:prstGeom>
          <a:solidFill>
            <a:srgbClr val="00E0FF"/>
          </a:solidFill>
          <a:ln/>
        </p:spPr>
      </p:sp>
      <p:sp>
        <p:nvSpPr>
          <p:cNvPr id="4" name="Text 2"/>
          <p:cNvSpPr/>
          <p:nvPr/>
        </p:nvSpPr>
        <p:spPr>
          <a:xfrm>
            <a:off x="548640" y="228600"/>
            <a:ext cx="8229600" cy="0"/>
          </a:xfrm>
          <a:prstGeom prst="rect">
            <a:avLst/>
          </a:prstGeom>
          <a:noFill/>
          <a:ln/>
        </p:spPr>
        <p:txBody>
          <a:bodyPr wrap="square" rtlCol="0" anchor="ctr"/>
          <a:lstStyle/>
          <a:p>
            <a:pPr indent="0" marL="0">
              <a:buNone/>
            </a:pPr>
            <a:r>
              <a:rPr lang="en-US" sz="2200" b="1" dirty="0">
                <a:solidFill>
                  <a:srgbClr val="00E0FF"/>
                </a:solidFill>
                <a:latin typeface="Segoe UI" pitchFamily="34" charset="0"/>
                <a:ea typeface="Segoe UI" pitchFamily="34" charset="-122"/>
                <a:cs typeface="Segoe UI" pitchFamily="34" charset="-120"/>
              </a:rPr>
              <a:t>Cross-Framework Insights</a:t>
            </a:r>
            <a:endParaRPr lang="en-US" sz="2200" dirty="0"/>
          </a:p>
        </p:txBody>
      </p:sp>
      <p:sp>
        <p:nvSpPr>
          <p:cNvPr id="5" name="Shape 3"/>
          <p:cNvSpPr/>
          <p:nvPr/>
        </p:nvSpPr>
        <p:spPr>
          <a:xfrm>
            <a:off x="548640" y="594360"/>
            <a:ext cx="914400" cy="32004"/>
          </a:xfrm>
          <a:prstGeom prst="rect">
            <a:avLst/>
          </a:prstGeom>
          <a:solidFill>
            <a:srgbClr val="00E0FF"/>
          </a:solidFill>
          <a:ln/>
        </p:spPr>
      </p:sp>
      <p:sp>
        <p:nvSpPr>
          <p:cNvPr id="6" name="Shape 4"/>
          <p:cNvSpPr/>
          <p:nvPr/>
        </p:nvSpPr>
        <p:spPr>
          <a:xfrm>
            <a:off x="457200" y="868680"/>
            <a:ext cx="8229600" cy="502920"/>
          </a:xfrm>
          <a:prstGeom prst="roundRect">
            <a:avLst>
              <a:gd name="adj" fmla="val 9091"/>
            </a:avLst>
          </a:prstGeom>
          <a:solidFill>
            <a:srgbClr val="1A1D27"/>
          </a:solidFill>
          <a:ln w="6350">
            <a:solidFill>
              <a:srgbClr val="2D3348"/>
            </a:solidFill>
            <a:prstDash val="solid"/>
          </a:ln>
        </p:spPr>
      </p:sp>
      <p:sp>
        <p:nvSpPr>
          <p:cNvPr id="7" name="Text 5"/>
          <p:cNvSpPr/>
          <p:nvPr/>
        </p:nvSpPr>
        <p:spPr>
          <a:xfrm>
            <a:off x="640080" y="91440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The 'Cursor vs. Devin Paradigm': The software engineering market is fundamentally bifurcated into continuous co-editing (Cursor) and task delegation (Devin). Glyphor ADT aligns with the delegation model. Therefore, its primary battleground is not developer flow state, but rather asynchronous reliability, task comprehension, and project management trust.</a:t>
            </a:r>
            <a:endParaRPr lang="en-US" sz="1300" dirty="0"/>
          </a:p>
        </p:txBody>
      </p:sp>
      <p:sp>
        <p:nvSpPr>
          <p:cNvPr id="8" name="Shape 6"/>
          <p:cNvSpPr/>
          <p:nvPr/>
        </p:nvSpPr>
        <p:spPr>
          <a:xfrm>
            <a:off x="457200" y="1463040"/>
            <a:ext cx="8229600" cy="502920"/>
          </a:xfrm>
          <a:prstGeom prst="roundRect">
            <a:avLst>
              <a:gd name="adj" fmla="val 9091"/>
            </a:avLst>
          </a:prstGeom>
          <a:solidFill>
            <a:srgbClr val="1A1D27"/>
          </a:solidFill>
          <a:ln w="6350">
            <a:solidFill>
              <a:srgbClr val="2D3348"/>
            </a:solidFill>
            <a:prstDash val="solid"/>
          </a:ln>
        </p:spPr>
      </p:sp>
      <p:sp>
        <p:nvSpPr>
          <p:cNvPr id="9" name="Text 7"/>
          <p:cNvSpPr/>
          <p:nvPr/>
        </p:nvSpPr>
        <p:spPr>
          <a:xfrm>
            <a:off x="640080" y="150876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The 'Agent Washing' Penalty: The AI agent market in 2026 is defined by a deep trust deficit among enterprise CIOs. Glyphor's marketing must pivot from abstract promises of 'instant app creation' to 'measurable engineering velocity, SWE-bench transparency, and legacy system stability' to avoid being dismissed as a low-value wrapper.</a:t>
            </a:r>
            <a:endParaRPr lang="en-US" sz="1300" dirty="0"/>
          </a:p>
        </p:txBody>
      </p:sp>
      <p:sp>
        <p:nvSpPr>
          <p:cNvPr id="10" name="Shape 8"/>
          <p:cNvSpPr/>
          <p:nvPr/>
        </p:nvSpPr>
        <p:spPr>
          <a:xfrm>
            <a:off x="457200" y="2057400"/>
            <a:ext cx="8229600" cy="502920"/>
          </a:xfrm>
          <a:prstGeom prst="roundRect">
            <a:avLst>
              <a:gd name="adj" fmla="val 9091"/>
            </a:avLst>
          </a:prstGeom>
          <a:solidFill>
            <a:srgbClr val="1A1D27"/>
          </a:solidFill>
          <a:ln w="6350">
            <a:solidFill>
              <a:srgbClr val="2D3348"/>
            </a:solidFill>
            <a:prstDash val="solid"/>
          </a:ln>
        </p:spPr>
      </p:sp>
      <p:sp>
        <p:nvSpPr>
          <p:cNvPr id="11" name="Text 9"/>
          <p:cNvSpPr/>
          <p:nvPr/>
        </p:nvSpPr>
        <p:spPr>
          <a:xfrm>
            <a:off x="640080" y="210312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Creative vs. Engineering Synergy: Managing both Pulse (creative/video) and Fuse (engineering) under one brand risks diluting narrative focus. However, if technologically integrated, it presents a unique opportunity to automate front-end UI generation seamlessly tied to back-end ADT coding, creating an unprecedented unified 'idea-to-deployment' pipeline.</a:t>
            </a:r>
            <a:endParaRPr lang="en-US" sz="1300" dirty="0"/>
          </a:p>
        </p:txBody>
      </p:sp>
      <p:sp>
        <p:nvSpPr>
          <p:cNvPr id="12" name="Shape 10"/>
          <p:cNvSpPr/>
          <p:nvPr/>
        </p:nvSpPr>
        <p:spPr>
          <a:xfrm>
            <a:off x="457200" y="2651760"/>
            <a:ext cx="8229600" cy="502920"/>
          </a:xfrm>
          <a:prstGeom prst="roundRect">
            <a:avLst>
              <a:gd name="adj" fmla="val 9091"/>
            </a:avLst>
          </a:prstGeom>
          <a:solidFill>
            <a:srgbClr val="1A1D27"/>
          </a:solidFill>
          <a:ln w="6350">
            <a:solidFill>
              <a:srgbClr val="2D3348"/>
            </a:solidFill>
            <a:prstDash val="solid"/>
          </a:ln>
        </p:spPr>
      </p:sp>
      <p:sp>
        <p:nvSpPr>
          <p:cNvPr id="13" name="Text 11"/>
          <p:cNvSpPr/>
          <p:nvPr/>
        </p:nvSpPr>
        <p:spPr>
          <a:xfrm>
            <a:off x="640080" y="269748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The ROI Imperative: With 67% of Fortune 500s deploying agentic AI but many facing internal backlash over costs, the winning platforms in 2026 will not be the most capable, but the most economically disciplined. Glyphor must rigorously prove 'The Economics of AI-First Development'.</a:t>
            </a:r>
            <a:endParaRPr lang="en-US" sz="1300" dirty="0"/>
          </a:p>
        </p:txBody>
      </p:sp>
      <p:sp>
        <p:nvSpPr>
          <p:cNvPr id="14" name="Shape 12"/>
          <p:cNvSpPr/>
          <p:nvPr/>
        </p:nvSpPr>
        <p:spPr>
          <a:xfrm>
            <a:off x="0" y="4663440"/>
            <a:ext cx="9144000" cy="137160"/>
          </a:xfrm>
          <a:prstGeom prst="rect">
            <a:avLst/>
          </a:prstGeom>
          <a:solidFill>
            <a:srgbClr val="00E0FF"/>
          </a:solidFill>
          <a:ln/>
        </p:spPr>
      </p:sp>
      <p:sp>
        <p:nvSpPr>
          <p:cNvPr id="15" name="Text 13"/>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E0FF"/>
          </a:solidFill>
          <a:ln/>
        </p:spPr>
      </p:sp>
      <p:sp>
        <p:nvSpPr>
          <p:cNvPr id="3" name="Text 1"/>
          <p:cNvSpPr/>
          <p:nvPr/>
        </p:nvSpPr>
        <p:spPr>
          <a:xfrm>
            <a:off x="457200" y="182880"/>
            <a:ext cx="8229600" cy="0"/>
          </a:xfrm>
          <a:prstGeom prst="rect">
            <a:avLst/>
          </a:prstGeom>
          <a:noFill/>
          <a:ln/>
        </p:spPr>
        <p:txBody>
          <a:bodyPr wrap="square" rtlCol="0" anchor="ctr"/>
          <a:lstStyle/>
          <a:p>
            <a:pPr indent="0" marL="0">
              <a:buNone/>
            </a:pPr>
            <a:r>
              <a:rPr lang="en-US" sz="2200" b="1" dirty="0">
                <a:solidFill>
                  <a:srgbClr val="E5E7EB"/>
                </a:solidFill>
                <a:latin typeface="Segoe UI" pitchFamily="34" charset="0"/>
                <a:ea typeface="Segoe UI" pitchFamily="34" charset="-122"/>
                <a:cs typeface="Segoe UI" pitchFamily="34" charset="-120"/>
              </a:rPr>
              <a:t>SWOT Analysis</a:t>
            </a:r>
            <a:endParaRPr lang="en-US" sz="2200" dirty="0"/>
          </a:p>
        </p:txBody>
      </p:sp>
      <p:sp>
        <p:nvSpPr>
          <p:cNvPr id="4" name="Shape 2"/>
          <p:cNvSpPr/>
          <p:nvPr/>
        </p:nvSpPr>
        <p:spPr>
          <a:xfrm>
            <a:off x="457200" y="548640"/>
            <a:ext cx="914400" cy="32004"/>
          </a:xfrm>
          <a:prstGeom prst="rect">
            <a:avLst/>
          </a:prstGeom>
          <a:solidFill>
            <a:srgbClr val="00E0FF"/>
          </a:solidFill>
          <a:ln/>
        </p:spPr>
      </p:sp>
      <p:sp>
        <p:nvSpPr>
          <p:cNvPr id="5" name="Shape 3"/>
          <p:cNvSpPr/>
          <p:nvPr/>
        </p:nvSpPr>
        <p:spPr>
          <a:xfrm>
            <a:off x="274320" y="777240"/>
            <a:ext cx="4251960" cy="1783080"/>
          </a:xfrm>
          <a:prstGeom prst="roundRect">
            <a:avLst>
              <a:gd name="adj" fmla="val 4103"/>
            </a:avLst>
          </a:prstGeom>
          <a:solidFill>
            <a:srgbClr val="1A1D27"/>
          </a:solidFill>
          <a:ln w="19050">
            <a:solidFill>
              <a:srgbClr val="34D399"/>
            </a:solidFill>
            <a:prstDash val="solid"/>
          </a:ln>
        </p:spPr>
      </p:sp>
      <p:sp>
        <p:nvSpPr>
          <p:cNvPr id="6" name="Shape 4"/>
          <p:cNvSpPr/>
          <p:nvPr/>
        </p:nvSpPr>
        <p:spPr>
          <a:xfrm>
            <a:off x="274320" y="777240"/>
            <a:ext cx="4251960" cy="274320"/>
          </a:xfrm>
          <a:prstGeom prst="rect">
            <a:avLst/>
          </a:prstGeom>
          <a:solidFill>
            <a:srgbClr val="34D399"/>
          </a:solidFill>
          <a:ln/>
        </p:spPr>
      </p:sp>
      <p:sp>
        <p:nvSpPr>
          <p:cNvPr id="7" name="Text 5"/>
          <p:cNvSpPr/>
          <p:nvPr/>
        </p:nvSpPr>
        <p:spPr>
          <a:xfrm>
            <a:off x="411480" y="795528"/>
            <a:ext cx="3931920" cy="0"/>
          </a:xfrm>
          <a:prstGeom prst="rect">
            <a:avLst/>
          </a:prstGeom>
          <a:noFill/>
          <a:ln/>
        </p:spPr>
        <p:txBody>
          <a:bodyPr wrap="square" rtlCol="0" anchor="ctr"/>
          <a:lstStyle/>
          <a:p>
            <a:pPr indent="0" marL="0">
              <a:buNone/>
            </a:pPr>
            <a:r>
              <a:rPr lang="en-US" sz="1100" b="1" spc="200" kern="0" dirty="0">
                <a:solidFill>
                  <a:srgbClr val="FFFFFF"/>
                </a:solidFill>
                <a:latin typeface="Segoe UI" pitchFamily="34" charset="0"/>
                <a:ea typeface="Segoe UI" pitchFamily="34" charset="-122"/>
                <a:cs typeface="Segoe UI" pitchFamily="34" charset="-120"/>
              </a:rPr>
              <a:t>STRENGTHS</a:t>
            </a:r>
            <a:endParaRPr lang="en-US" sz="1100" dirty="0"/>
          </a:p>
        </p:txBody>
      </p:sp>
      <p:sp>
        <p:nvSpPr>
          <p:cNvPr id="8" name="Text 6"/>
          <p:cNvSpPr/>
          <p:nvPr/>
        </p:nvSpPr>
        <p:spPr>
          <a:xfrm>
            <a:off x="411480" y="1124712"/>
            <a:ext cx="3977640" cy="1325880"/>
          </a:xfrm>
          <a:prstGeom prst="rect">
            <a:avLst/>
          </a:prstGeom>
          <a:noFill/>
          <a:ln/>
        </p:spPr>
        <p:txBody>
          <a:bodyPr wrap="square" rtlCol="0" anchor="t"/>
          <a:lstStyle/>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1. Comprehensive multi-product ecosystem with Glyphor Fuse (engineering) and Glyphor Pulse (creative), enabling holistic cross-departmental enterprise penetration.</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2. Strategic positioning of Autonomous Development Teams (ADT) as a complete role-based, memory-persistent orchestration architecture rather than a simple IDE plugin.</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3. Explicit architectural focus on enterprise governance and a 'Security First' foundation, directly mitigating primary buyer hesitations surrounding autonomous code execution.</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4. Agnostic integration capabilities targeting complex, legacy enterprise environments (e.g., SAP, Oracle, Snowflake refactoring).</a:t>
            </a:r>
            <a:endParaRPr lang="en-US" sz="1100" dirty="0"/>
          </a:p>
        </p:txBody>
      </p:sp>
      <p:sp>
        <p:nvSpPr>
          <p:cNvPr id="9" name="Shape 7"/>
          <p:cNvSpPr/>
          <p:nvPr/>
        </p:nvSpPr>
        <p:spPr>
          <a:xfrm>
            <a:off x="4709160" y="777240"/>
            <a:ext cx="4251960" cy="1783080"/>
          </a:xfrm>
          <a:prstGeom prst="roundRect">
            <a:avLst>
              <a:gd name="adj" fmla="val 4103"/>
            </a:avLst>
          </a:prstGeom>
          <a:solidFill>
            <a:srgbClr val="1A1D27"/>
          </a:solidFill>
          <a:ln w="19050">
            <a:solidFill>
              <a:srgbClr val="FB7185"/>
            </a:solidFill>
            <a:prstDash val="solid"/>
          </a:ln>
        </p:spPr>
      </p:sp>
      <p:sp>
        <p:nvSpPr>
          <p:cNvPr id="10" name="Shape 8"/>
          <p:cNvSpPr/>
          <p:nvPr/>
        </p:nvSpPr>
        <p:spPr>
          <a:xfrm>
            <a:off x="4709160" y="777240"/>
            <a:ext cx="4251960" cy="274320"/>
          </a:xfrm>
          <a:prstGeom prst="rect">
            <a:avLst/>
          </a:prstGeom>
          <a:solidFill>
            <a:srgbClr val="FB7185"/>
          </a:solidFill>
          <a:ln/>
        </p:spPr>
      </p:sp>
      <p:sp>
        <p:nvSpPr>
          <p:cNvPr id="11" name="Text 9"/>
          <p:cNvSpPr/>
          <p:nvPr/>
        </p:nvSpPr>
        <p:spPr>
          <a:xfrm>
            <a:off x="4846320" y="795528"/>
            <a:ext cx="3931920" cy="0"/>
          </a:xfrm>
          <a:prstGeom prst="rect">
            <a:avLst/>
          </a:prstGeom>
          <a:noFill/>
          <a:ln/>
        </p:spPr>
        <p:txBody>
          <a:bodyPr wrap="square" rtlCol="0" anchor="ctr"/>
          <a:lstStyle/>
          <a:p>
            <a:pPr indent="0" marL="0">
              <a:buNone/>
            </a:pPr>
            <a:r>
              <a:rPr lang="en-US" sz="1100" b="1" spc="200" kern="0" dirty="0">
                <a:solidFill>
                  <a:srgbClr val="FFFFFF"/>
                </a:solidFill>
                <a:latin typeface="Segoe UI" pitchFamily="34" charset="0"/>
                <a:ea typeface="Segoe UI" pitchFamily="34" charset="-122"/>
                <a:cs typeface="Segoe UI" pitchFamily="34" charset="-120"/>
              </a:rPr>
              <a:t>WEAKNESSES</a:t>
            </a:r>
            <a:endParaRPr lang="en-US" sz="1100" dirty="0"/>
          </a:p>
        </p:txBody>
      </p:sp>
      <p:sp>
        <p:nvSpPr>
          <p:cNvPr id="12" name="Text 10"/>
          <p:cNvSpPr/>
          <p:nvPr/>
        </p:nvSpPr>
        <p:spPr>
          <a:xfrm>
            <a:off x="4846320" y="1124712"/>
            <a:ext cx="3977640" cy="1325880"/>
          </a:xfrm>
          <a:prstGeom prst="rect">
            <a:avLst/>
          </a:prstGeom>
          <a:noFill/>
          <a:ln/>
        </p:spPr>
        <p:txBody>
          <a:bodyPr wrap="square" rtlCol="0" anchor="t"/>
          <a:lstStyle/>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1. Complete lack of publicly available, verifiable benchmark data; critical comparative metrics such as SWE-bench scores are explicitly unavailable, hindering technical credibility.</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2. Operating in dual markets with aggressively capitalized incumbents; coding competitors (Cursor, Devin) and video competitors (Runway, Sora) possess massive compute and R&amp;D moats.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3. Potential user experience friction if the asynchronous 'handoff' model of ADT fails to offer the immediate, iterative feedback loop favored by 85% of developers using inline AI tools.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4. Brand positioning split between creative media generation and hard software engineering, potentially diluting the core value proposition for enterprise technical buyers.</a:t>
            </a:r>
            <a:endParaRPr lang="en-US" sz="1100" dirty="0"/>
          </a:p>
        </p:txBody>
      </p:sp>
      <p:sp>
        <p:nvSpPr>
          <p:cNvPr id="13" name="Shape 11"/>
          <p:cNvSpPr/>
          <p:nvPr/>
        </p:nvSpPr>
        <p:spPr>
          <a:xfrm>
            <a:off x="274320" y="2697480"/>
            <a:ext cx="4251960" cy="1783080"/>
          </a:xfrm>
          <a:prstGeom prst="roundRect">
            <a:avLst>
              <a:gd name="adj" fmla="val 4103"/>
            </a:avLst>
          </a:prstGeom>
          <a:solidFill>
            <a:srgbClr val="1A1D27"/>
          </a:solidFill>
          <a:ln w="19050">
            <a:solidFill>
              <a:srgbClr val="00E0FF"/>
            </a:solidFill>
            <a:prstDash val="solid"/>
          </a:ln>
        </p:spPr>
      </p:sp>
      <p:sp>
        <p:nvSpPr>
          <p:cNvPr id="14" name="Shape 12"/>
          <p:cNvSpPr/>
          <p:nvPr/>
        </p:nvSpPr>
        <p:spPr>
          <a:xfrm>
            <a:off x="274320" y="2697480"/>
            <a:ext cx="4251960" cy="274320"/>
          </a:xfrm>
          <a:prstGeom prst="rect">
            <a:avLst/>
          </a:prstGeom>
          <a:solidFill>
            <a:srgbClr val="00E0FF"/>
          </a:solidFill>
          <a:ln/>
        </p:spPr>
      </p:sp>
      <p:sp>
        <p:nvSpPr>
          <p:cNvPr id="15" name="Text 13"/>
          <p:cNvSpPr/>
          <p:nvPr/>
        </p:nvSpPr>
        <p:spPr>
          <a:xfrm>
            <a:off x="411480" y="2715768"/>
            <a:ext cx="3931920" cy="0"/>
          </a:xfrm>
          <a:prstGeom prst="rect">
            <a:avLst/>
          </a:prstGeom>
          <a:noFill/>
          <a:ln/>
        </p:spPr>
        <p:txBody>
          <a:bodyPr wrap="square" rtlCol="0" anchor="ctr"/>
          <a:lstStyle/>
          <a:p>
            <a:pPr indent="0" marL="0">
              <a:buNone/>
            </a:pPr>
            <a:r>
              <a:rPr lang="en-US" sz="1100" b="1" spc="200" kern="0" dirty="0">
                <a:solidFill>
                  <a:srgbClr val="FFFFFF"/>
                </a:solidFill>
                <a:latin typeface="Segoe UI" pitchFamily="34" charset="0"/>
                <a:ea typeface="Segoe UI" pitchFamily="34" charset="-122"/>
                <a:cs typeface="Segoe UI" pitchFamily="34" charset="-120"/>
              </a:rPr>
              <a:t>OPPORTUNITIES</a:t>
            </a:r>
            <a:endParaRPr lang="en-US" sz="1100" dirty="0"/>
          </a:p>
        </p:txBody>
      </p:sp>
      <p:sp>
        <p:nvSpPr>
          <p:cNvPr id="16" name="Text 14"/>
          <p:cNvSpPr/>
          <p:nvPr/>
        </p:nvSpPr>
        <p:spPr>
          <a:xfrm>
            <a:off x="411480" y="3044952"/>
            <a:ext cx="3977640" cy="1325880"/>
          </a:xfrm>
          <a:prstGeom prst="rect">
            <a:avLst/>
          </a:prstGeom>
          <a:noFill/>
          <a:ln/>
        </p:spPr>
        <p:txBody>
          <a:bodyPr wrap="square" rtlCol="0" anchor="t"/>
          <a:lstStyle/>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1. Capitalizing on the 'agent washing' backlash by transparently proving true multi-step autonomous capabilities, distinguishing Glyphor from the 80%+ of vendors categorized as rebranded chatbots.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2. Targeting the legacy modernization and technical debt reduction market, which requires the exact asynchronous, context-heavy automation that Glyphor ADT is designed for.</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3. Capturing the enterprise shift toward 'agentic workflow orchestration' in 2026, where 81% of organizations plan to deploy multi-agent systems for complex, cross-functional projects.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4. Leveraging Glyphor Pulse's '100+ viral templates' to capture the high-velocity, low-barrier creator market while utilizing the revenue to fund deep-tech ADT research.</a:t>
            </a:r>
            <a:endParaRPr lang="en-US" sz="1100" dirty="0"/>
          </a:p>
        </p:txBody>
      </p:sp>
      <p:sp>
        <p:nvSpPr>
          <p:cNvPr id="17" name="Shape 15"/>
          <p:cNvSpPr/>
          <p:nvPr/>
        </p:nvSpPr>
        <p:spPr>
          <a:xfrm>
            <a:off x="4709160" y="2697480"/>
            <a:ext cx="4251960" cy="1783080"/>
          </a:xfrm>
          <a:prstGeom prst="roundRect">
            <a:avLst>
              <a:gd name="adj" fmla="val 4103"/>
            </a:avLst>
          </a:prstGeom>
          <a:solidFill>
            <a:srgbClr val="1A1D27"/>
          </a:solidFill>
          <a:ln w="19050">
            <a:solidFill>
              <a:srgbClr val="FBBF24"/>
            </a:solidFill>
            <a:prstDash val="solid"/>
          </a:ln>
        </p:spPr>
      </p:sp>
      <p:sp>
        <p:nvSpPr>
          <p:cNvPr id="18" name="Shape 16"/>
          <p:cNvSpPr/>
          <p:nvPr/>
        </p:nvSpPr>
        <p:spPr>
          <a:xfrm>
            <a:off x="4709160" y="2697480"/>
            <a:ext cx="4251960" cy="274320"/>
          </a:xfrm>
          <a:prstGeom prst="rect">
            <a:avLst/>
          </a:prstGeom>
          <a:solidFill>
            <a:srgbClr val="FBBF24"/>
          </a:solidFill>
          <a:ln/>
        </p:spPr>
      </p:sp>
      <p:sp>
        <p:nvSpPr>
          <p:cNvPr id="19" name="Text 17"/>
          <p:cNvSpPr/>
          <p:nvPr/>
        </p:nvSpPr>
        <p:spPr>
          <a:xfrm>
            <a:off x="4846320" y="2715768"/>
            <a:ext cx="3931920" cy="0"/>
          </a:xfrm>
          <a:prstGeom prst="rect">
            <a:avLst/>
          </a:prstGeom>
          <a:noFill/>
          <a:ln/>
        </p:spPr>
        <p:txBody>
          <a:bodyPr wrap="square" rtlCol="0" anchor="ctr"/>
          <a:lstStyle/>
          <a:p>
            <a:pPr indent="0" marL="0">
              <a:buNone/>
            </a:pPr>
            <a:r>
              <a:rPr lang="en-US" sz="1100" b="1" spc="200" kern="0" dirty="0">
                <a:solidFill>
                  <a:srgbClr val="FFFFFF"/>
                </a:solidFill>
                <a:latin typeface="Segoe UI" pitchFamily="34" charset="0"/>
                <a:ea typeface="Segoe UI" pitchFamily="34" charset="-122"/>
                <a:cs typeface="Segoe UI" pitchFamily="34" charset="-120"/>
              </a:rPr>
              <a:t>THREATS</a:t>
            </a:r>
            <a:endParaRPr lang="en-US" sz="1100" dirty="0"/>
          </a:p>
        </p:txBody>
      </p:sp>
      <p:sp>
        <p:nvSpPr>
          <p:cNvPr id="20" name="Text 18"/>
          <p:cNvSpPr/>
          <p:nvPr/>
        </p:nvSpPr>
        <p:spPr>
          <a:xfrm>
            <a:off x="4846320" y="3044952"/>
            <a:ext cx="3977640" cy="1325880"/>
          </a:xfrm>
          <a:prstGeom prst="rect">
            <a:avLst/>
          </a:prstGeom>
          <a:noFill/>
          <a:ln/>
        </p:spPr>
        <p:txBody>
          <a:bodyPr wrap="square" rtlCol="0" anchor="t"/>
          <a:lstStyle/>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1. The impending 'Trough of Disillusionment' and Gartner's projected 40% enterprise project cancellation rate, which may temporarily freeze B2B procurement budgets for autonomous platforms.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2. Rapid feature commoditization by hyperscalers (e.g., GitHub Copilot, Microsoft Azure AI, Google Veo) who can bundle agentic capabilities into existing enterprise agreements at zero marginal cost.</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3. Inherent technological limitations of current LLMs, such as 'agentic amnesia' and compounding error rates in long-horizon tasks (estimated at a 32% success rate for 5-step tasks).</a:t>
            </a:r>
            <a:endParaRPr lang="en-US" sz="1100" dirty="0"/>
          </a:p>
          <a:p>
            <a:pPr indent="0" marL="0">
              <a:lnSpc>
                <a:spcPct val="135000"/>
              </a:lnSpc>
              <a:buNone/>
            </a:pPr>
            <a:r>
              <a:rPr lang="en-US" sz="1100" dirty="0">
                <a:solidFill>
                  <a:srgbClr val="E5E7EB"/>
                </a:solidFill>
                <a:latin typeface="Segoe UI" pitchFamily="34" charset="0"/>
                <a:ea typeface="Segoe UI" pitchFamily="34" charset="-122"/>
                <a:cs typeface="Segoe UI" pitchFamily="34" charset="-120"/>
              </a:rPr>
              <a:t>4. Market concentration dynamics where the top 3 AI coding players currently capture over 70% of the market share, leaving a narrow wedge for emerging platforms.</a:t>
            </a:r>
            <a:endParaRPr lang="en-US" sz="1100" dirty="0"/>
          </a:p>
        </p:txBody>
      </p:sp>
      <p:sp>
        <p:nvSpPr>
          <p:cNvPr id="21" name="Shape 19"/>
          <p:cNvSpPr/>
          <p:nvPr/>
        </p:nvSpPr>
        <p:spPr>
          <a:xfrm>
            <a:off x="0" y="4663440"/>
            <a:ext cx="9144000" cy="137160"/>
          </a:xfrm>
          <a:prstGeom prst="rect">
            <a:avLst/>
          </a:prstGeom>
          <a:solidFill>
            <a:srgbClr val="00E0FF"/>
          </a:solidFill>
          <a:ln/>
        </p:spPr>
      </p:sp>
      <p:sp>
        <p:nvSpPr>
          <p:cNvPr id="22" name="Text 20"/>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7185"/>
          </a:solidFill>
          <a:ln/>
        </p:spPr>
      </p:sp>
      <p:sp>
        <p:nvSpPr>
          <p:cNvPr id="3" name="Shape 1"/>
          <p:cNvSpPr/>
          <p:nvPr/>
        </p:nvSpPr>
        <p:spPr>
          <a:xfrm>
            <a:off x="0" y="0"/>
            <a:ext cx="54864" cy="5148072"/>
          </a:xfrm>
          <a:prstGeom prst="rect">
            <a:avLst/>
          </a:prstGeom>
          <a:solidFill>
            <a:srgbClr val="FB7185"/>
          </a:solidFill>
          <a:ln/>
        </p:spPr>
      </p:sp>
      <p:sp>
        <p:nvSpPr>
          <p:cNvPr id="4" name="Text 2"/>
          <p:cNvSpPr/>
          <p:nvPr/>
        </p:nvSpPr>
        <p:spPr>
          <a:xfrm>
            <a:off x="548640" y="274320"/>
            <a:ext cx="8229600" cy="0"/>
          </a:xfrm>
          <a:prstGeom prst="rect">
            <a:avLst/>
          </a:prstGeom>
          <a:noFill/>
          <a:ln/>
        </p:spPr>
        <p:txBody>
          <a:bodyPr wrap="square" rtlCol="0" anchor="ctr"/>
          <a:lstStyle/>
          <a:p>
            <a:pPr indent="0" marL="0">
              <a:buNone/>
            </a:pPr>
            <a:r>
              <a:rPr lang="en-US" sz="1200" b="1" spc="200" kern="0" dirty="0">
                <a:solidFill>
                  <a:srgbClr val="FB7185"/>
                </a:solidFill>
                <a:latin typeface="Segoe UI" pitchFamily="34" charset="0"/>
                <a:ea typeface="Segoe UI" pitchFamily="34" charset="-122"/>
                <a:cs typeface="Segoe UI" pitchFamily="34" charset="-120"/>
              </a:rPr>
              <a:t>HIGH IMPACT · Recommendation 1</a:t>
            </a:r>
            <a:endParaRPr lang="en-US" sz="1200" dirty="0"/>
          </a:p>
        </p:txBody>
      </p:sp>
      <p:sp>
        <p:nvSpPr>
          <p:cNvPr id="5" name="Text 3"/>
          <p:cNvSpPr/>
          <p:nvPr/>
        </p:nvSpPr>
        <p:spPr>
          <a:xfrm>
            <a:off x="548640" y="731520"/>
            <a:ext cx="7772400" cy="0"/>
          </a:xfrm>
          <a:prstGeom prst="rect">
            <a:avLst/>
          </a:prstGeom>
          <a:noFill/>
          <a:ln/>
        </p:spPr>
        <p:txBody>
          <a:bodyPr wrap="square" rtlCol="0" anchor="ctr"/>
          <a:lstStyle/>
          <a:p>
            <a:pPr indent="0" marL="0">
              <a:buNone/>
            </a:pPr>
            <a:r>
              <a:rPr lang="en-US" sz="2800" b="1" dirty="0">
                <a:solidFill>
                  <a:srgbClr val="E5E7EB"/>
                </a:solidFill>
                <a:latin typeface="Segoe UI" pitchFamily="34" charset="0"/>
                <a:ea typeface="Segoe UI" pitchFamily="34" charset="-122"/>
                <a:cs typeface="Segoe UI" pitchFamily="34" charset="-120"/>
              </a:rPr>
              <a:t>Publish Open and Verified Benchmark Performance Data</a:t>
            </a:r>
            <a:endParaRPr lang="en-US" sz="2800" dirty="0"/>
          </a:p>
        </p:txBody>
      </p:sp>
      <p:sp>
        <p:nvSpPr>
          <p:cNvPr id="6" name="Shape 4"/>
          <p:cNvSpPr/>
          <p:nvPr/>
        </p:nvSpPr>
        <p:spPr>
          <a:xfrm>
            <a:off x="548640" y="1371600"/>
            <a:ext cx="914400" cy="32004"/>
          </a:xfrm>
          <a:prstGeom prst="rect">
            <a:avLst/>
          </a:prstGeom>
          <a:solidFill>
            <a:srgbClr val="FB7185"/>
          </a:solidFill>
          <a:ln/>
        </p:spPr>
      </p:sp>
      <p:sp>
        <p:nvSpPr>
          <p:cNvPr id="7" name="Shape 5"/>
          <p:cNvSpPr/>
          <p:nvPr/>
        </p:nvSpPr>
        <p:spPr>
          <a:xfrm>
            <a:off x="457200" y="1600200"/>
            <a:ext cx="8229600" cy="2560320"/>
          </a:xfrm>
          <a:prstGeom prst="roundRect">
            <a:avLst>
              <a:gd name="adj" fmla="val 2857"/>
            </a:avLst>
          </a:prstGeom>
          <a:solidFill>
            <a:srgbClr val="1A1D27"/>
          </a:solidFill>
          <a:ln w="6350">
            <a:solidFill>
              <a:srgbClr val="2D3348"/>
            </a:solidFill>
            <a:prstDash val="solid"/>
          </a:ln>
        </p:spPr>
      </p:sp>
      <p:sp>
        <p:nvSpPr>
          <p:cNvPr id="8" name="Text 6"/>
          <p:cNvSpPr/>
          <p:nvPr/>
        </p:nvSpPr>
        <p:spPr>
          <a:xfrm>
            <a:off x="731520" y="1737360"/>
            <a:ext cx="7680960" cy="2286000"/>
          </a:xfrm>
          <a:prstGeom prst="rect">
            <a:avLst/>
          </a:prstGeom>
          <a:noFill/>
          <a:ln/>
        </p:spPr>
        <p:txBody>
          <a:bodyPr wrap="square" rtlCol="0" anchor="t"/>
          <a:lstStyle/>
          <a:p>
            <a:pPr indent="0" marL="0">
              <a:lnSpc>
                <a:spcPct val="140000"/>
              </a:lnSpc>
              <a:buNone/>
            </a:pPr>
            <a:r>
              <a:rPr lang="en-US" sz="1400" dirty="0">
                <a:solidFill>
                  <a:srgbClr val="E5E7EB"/>
                </a:solidFill>
                <a:latin typeface="Segoe UI" pitchFamily="34" charset="0"/>
                <a:ea typeface="Segoe UI" pitchFamily="34" charset="-122"/>
                <a:cs typeface="Segoe UI" pitchFamily="34" charset="-120"/>
              </a:rPr>
              <a:t>Conduct and publish rigorous, third-party verified benchmarking for Glyphor ADT against industry standards like SWE-bench. Since these metrics are currently unavailable, filling this void is critical for establishing baseline credibility against Cognition's Devin and Anthropic's Claude Code.</a:t>
            </a:r>
            <a:endParaRPr lang="en-US" sz="1400" dirty="0"/>
          </a:p>
        </p:txBody>
      </p:sp>
      <p:sp>
        <p:nvSpPr>
          <p:cNvPr id="9" name="Text 7"/>
          <p:cNvSpPr/>
          <p:nvPr/>
        </p:nvSpPr>
        <p:spPr>
          <a:xfrm>
            <a:off x="731520" y="4206240"/>
            <a:ext cx="7680960" cy="0"/>
          </a:xfrm>
          <a:prstGeom prst="rect">
            <a:avLst/>
          </a:prstGeom>
          <a:noFill/>
          <a:ln/>
        </p:spPr>
        <p:txBody>
          <a:bodyPr wrap="square" rtlCol="0" anchor="ctr"/>
          <a:lstStyle/>
          <a:p>
            <a:pPr indent="0" marL="0">
              <a:buNone/>
            </a:pPr>
            <a:r>
              <a:rPr lang="en-US" sz="1000" dirty="0">
                <a:solidFill>
                  <a:srgbClr val="8B95A5"/>
                </a:solidFill>
                <a:latin typeface="Segoe UI" pitchFamily="34" charset="0"/>
                <a:ea typeface="Segoe UI" pitchFamily="34" charset="-122"/>
                <a:cs typeface="Segoe UI" pitchFamily="34" charset="-120"/>
              </a:rPr>
              <a:t>Owner: VP of Engineering · Expected: Validation of ADT capabilities, generating technical trust and unblocking evaluations by senior engineering buyers.</a:t>
            </a:r>
            <a:endParaRPr lang="en-US" sz="1000" dirty="0"/>
          </a:p>
        </p:txBody>
      </p:sp>
      <p:sp>
        <p:nvSpPr>
          <p:cNvPr id="10" name="Shape 8"/>
          <p:cNvSpPr/>
          <p:nvPr/>
        </p:nvSpPr>
        <p:spPr>
          <a:xfrm>
            <a:off x="0" y="4663440"/>
            <a:ext cx="9144000" cy="137160"/>
          </a:xfrm>
          <a:prstGeom prst="rect">
            <a:avLst/>
          </a:prstGeom>
          <a:solidFill>
            <a:srgbClr val="00E0FF"/>
          </a:solidFill>
          <a:ln/>
        </p:spPr>
      </p:sp>
      <p:sp>
        <p:nvSpPr>
          <p:cNvPr id="11" name="Text 9"/>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7185"/>
          </a:solidFill>
          <a:ln/>
        </p:spPr>
      </p:sp>
      <p:sp>
        <p:nvSpPr>
          <p:cNvPr id="3" name="Shape 1"/>
          <p:cNvSpPr/>
          <p:nvPr/>
        </p:nvSpPr>
        <p:spPr>
          <a:xfrm>
            <a:off x="0" y="0"/>
            <a:ext cx="54864" cy="5148072"/>
          </a:xfrm>
          <a:prstGeom prst="rect">
            <a:avLst/>
          </a:prstGeom>
          <a:solidFill>
            <a:srgbClr val="FB7185"/>
          </a:solidFill>
          <a:ln/>
        </p:spPr>
      </p:sp>
      <p:sp>
        <p:nvSpPr>
          <p:cNvPr id="4" name="Text 2"/>
          <p:cNvSpPr/>
          <p:nvPr/>
        </p:nvSpPr>
        <p:spPr>
          <a:xfrm>
            <a:off x="548640" y="274320"/>
            <a:ext cx="8229600" cy="0"/>
          </a:xfrm>
          <a:prstGeom prst="rect">
            <a:avLst/>
          </a:prstGeom>
          <a:noFill/>
          <a:ln/>
        </p:spPr>
        <p:txBody>
          <a:bodyPr wrap="square" rtlCol="0" anchor="ctr"/>
          <a:lstStyle/>
          <a:p>
            <a:pPr indent="0" marL="0">
              <a:buNone/>
            </a:pPr>
            <a:r>
              <a:rPr lang="en-US" sz="1200" b="1" spc="200" kern="0" dirty="0">
                <a:solidFill>
                  <a:srgbClr val="FB7185"/>
                </a:solidFill>
                <a:latin typeface="Segoe UI" pitchFamily="34" charset="0"/>
                <a:ea typeface="Segoe UI" pitchFamily="34" charset="-122"/>
                <a:cs typeface="Segoe UI" pitchFamily="34" charset="-120"/>
              </a:rPr>
              <a:t>HIGH IMPACT · Recommendation 2</a:t>
            </a:r>
            <a:endParaRPr lang="en-US" sz="1200" dirty="0"/>
          </a:p>
        </p:txBody>
      </p:sp>
      <p:sp>
        <p:nvSpPr>
          <p:cNvPr id="5" name="Text 3"/>
          <p:cNvSpPr/>
          <p:nvPr/>
        </p:nvSpPr>
        <p:spPr>
          <a:xfrm>
            <a:off x="548640" y="731520"/>
            <a:ext cx="7772400" cy="0"/>
          </a:xfrm>
          <a:prstGeom prst="rect">
            <a:avLst/>
          </a:prstGeom>
          <a:noFill/>
          <a:ln/>
        </p:spPr>
        <p:txBody>
          <a:bodyPr wrap="square" rtlCol="0" anchor="ctr"/>
          <a:lstStyle/>
          <a:p>
            <a:pPr indent="0" marL="0">
              <a:buNone/>
            </a:pPr>
            <a:r>
              <a:rPr lang="en-US" sz="2800" b="1" dirty="0">
                <a:solidFill>
                  <a:srgbClr val="E5E7EB"/>
                </a:solidFill>
                <a:latin typeface="Segoe UI" pitchFamily="34" charset="0"/>
                <a:ea typeface="Segoe UI" pitchFamily="34" charset="-122"/>
                <a:cs typeface="Segoe UI" pitchFamily="34" charset="-120"/>
              </a:rPr>
              <a:t>Develop 'Anti-Agent Washing' Enterprise Guarantees</a:t>
            </a:r>
            <a:endParaRPr lang="en-US" sz="2800" dirty="0"/>
          </a:p>
        </p:txBody>
      </p:sp>
      <p:sp>
        <p:nvSpPr>
          <p:cNvPr id="6" name="Shape 4"/>
          <p:cNvSpPr/>
          <p:nvPr/>
        </p:nvSpPr>
        <p:spPr>
          <a:xfrm>
            <a:off x="548640" y="1371600"/>
            <a:ext cx="914400" cy="32004"/>
          </a:xfrm>
          <a:prstGeom prst="rect">
            <a:avLst/>
          </a:prstGeom>
          <a:solidFill>
            <a:srgbClr val="FB7185"/>
          </a:solidFill>
          <a:ln/>
        </p:spPr>
      </p:sp>
      <p:sp>
        <p:nvSpPr>
          <p:cNvPr id="7" name="Shape 5"/>
          <p:cNvSpPr/>
          <p:nvPr/>
        </p:nvSpPr>
        <p:spPr>
          <a:xfrm>
            <a:off x="457200" y="1600200"/>
            <a:ext cx="8229600" cy="2560320"/>
          </a:xfrm>
          <a:prstGeom prst="roundRect">
            <a:avLst>
              <a:gd name="adj" fmla="val 2857"/>
            </a:avLst>
          </a:prstGeom>
          <a:solidFill>
            <a:srgbClr val="1A1D27"/>
          </a:solidFill>
          <a:ln w="6350">
            <a:solidFill>
              <a:srgbClr val="2D3348"/>
            </a:solidFill>
            <a:prstDash val="solid"/>
          </a:ln>
        </p:spPr>
      </p:sp>
      <p:sp>
        <p:nvSpPr>
          <p:cNvPr id="8" name="Text 6"/>
          <p:cNvSpPr/>
          <p:nvPr/>
        </p:nvSpPr>
        <p:spPr>
          <a:xfrm>
            <a:off x="731520" y="1737360"/>
            <a:ext cx="7680960" cy="2286000"/>
          </a:xfrm>
          <a:prstGeom prst="rect">
            <a:avLst/>
          </a:prstGeom>
          <a:noFill/>
          <a:ln/>
        </p:spPr>
        <p:txBody>
          <a:bodyPr wrap="square" rtlCol="0" anchor="t"/>
          <a:lstStyle/>
          <a:p>
            <a:pPr indent="0" marL="0">
              <a:lnSpc>
                <a:spcPct val="140000"/>
              </a:lnSpc>
              <a:buNone/>
            </a:pPr>
            <a:r>
              <a:rPr lang="en-US" sz="1400" dirty="0">
                <a:solidFill>
                  <a:srgbClr val="E5E7EB"/>
                </a:solidFill>
                <a:latin typeface="Segoe UI" pitchFamily="34" charset="0"/>
                <a:ea typeface="Segoe UI" pitchFamily="34" charset="-122"/>
                <a:cs typeface="Segoe UI" pitchFamily="34" charset="-120"/>
              </a:rPr>
              <a:t>Create a commercial framework that guarantees specific SLA and ROI outcomes for legacy refactoring and CI/CD integration, proving true multi-step autonomous capability rather than single-prompt automation.</a:t>
            </a:r>
            <a:endParaRPr lang="en-US" sz="1400" dirty="0"/>
          </a:p>
        </p:txBody>
      </p:sp>
      <p:sp>
        <p:nvSpPr>
          <p:cNvPr id="9" name="Text 7"/>
          <p:cNvSpPr/>
          <p:nvPr/>
        </p:nvSpPr>
        <p:spPr>
          <a:xfrm>
            <a:off x="731520" y="4206240"/>
            <a:ext cx="7680960" cy="0"/>
          </a:xfrm>
          <a:prstGeom prst="rect">
            <a:avLst/>
          </a:prstGeom>
          <a:noFill/>
          <a:ln/>
        </p:spPr>
        <p:txBody>
          <a:bodyPr wrap="square" rtlCol="0" anchor="ctr"/>
          <a:lstStyle/>
          <a:p>
            <a:pPr indent="0" marL="0">
              <a:buNone/>
            </a:pPr>
            <a:r>
              <a:rPr lang="en-US" sz="1000" dirty="0">
                <a:solidFill>
                  <a:srgbClr val="8B95A5"/>
                </a:solidFill>
                <a:latin typeface="Segoe UI" pitchFamily="34" charset="0"/>
                <a:ea typeface="Segoe UI" pitchFamily="34" charset="-122"/>
                <a:cs typeface="Segoe UI" pitchFamily="34" charset="-120"/>
              </a:rPr>
              <a:t>Owner: CRO / Head of Sales · Expected: Accelerated procurement in Fortune 500s, positioning Glyphor as the mature, risk-mitigated choice in a hyped market.</a:t>
            </a:r>
            <a:endParaRPr lang="en-US" sz="1000" dirty="0"/>
          </a:p>
        </p:txBody>
      </p:sp>
      <p:sp>
        <p:nvSpPr>
          <p:cNvPr id="10" name="Shape 8"/>
          <p:cNvSpPr/>
          <p:nvPr/>
        </p:nvSpPr>
        <p:spPr>
          <a:xfrm>
            <a:off x="0" y="4663440"/>
            <a:ext cx="9144000" cy="137160"/>
          </a:xfrm>
          <a:prstGeom prst="rect">
            <a:avLst/>
          </a:prstGeom>
          <a:solidFill>
            <a:srgbClr val="00E0FF"/>
          </a:solidFill>
          <a:ln/>
        </p:spPr>
      </p:sp>
      <p:sp>
        <p:nvSpPr>
          <p:cNvPr id="11" name="Text 9"/>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E0FF"/>
          </a:solidFill>
          <a:ln/>
        </p:spPr>
      </p:sp>
      <p:sp>
        <p:nvSpPr>
          <p:cNvPr id="3" name="Shape 1"/>
          <p:cNvSpPr/>
          <p:nvPr/>
        </p:nvSpPr>
        <p:spPr>
          <a:xfrm>
            <a:off x="0" y="0"/>
            <a:ext cx="54864" cy="5148072"/>
          </a:xfrm>
          <a:prstGeom prst="rect">
            <a:avLst/>
          </a:prstGeom>
          <a:solidFill>
            <a:srgbClr val="00E0FF"/>
          </a:solidFill>
          <a:ln/>
        </p:spPr>
      </p:sp>
      <p:sp>
        <p:nvSpPr>
          <p:cNvPr id="4" name="Text 2"/>
          <p:cNvSpPr/>
          <p:nvPr/>
        </p:nvSpPr>
        <p:spPr>
          <a:xfrm>
            <a:off x="548640" y="228600"/>
            <a:ext cx="8229600" cy="0"/>
          </a:xfrm>
          <a:prstGeom prst="rect">
            <a:avLst/>
          </a:prstGeom>
          <a:noFill/>
          <a:ln/>
        </p:spPr>
        <p:txBody>
          <a:bodyPr wrap="square" rtlCol="0" anchor="ctr"/>
          <a:lstStyle/>
          <a:p>
            <a:pPr indent="0" marL="0">
              <a:buNone/>
            </a:pPr>
            <a:r>
              <a:rPr lang="en-US" sz="2200" b="1" dirty="0">
                <a:solidFill>
                  <a:srgbClr val="00E0FF"/>
                </a:solidFill>
                <a:latin typeface="Segoe UI" pitchFamily="34" charset="0"/>
                <a:ea typeface="Segoe UI" pitchFamily="34" charset="-122"/>
                <a:cs typeface="Segoe UI" pitchFamily="34" charset="-120"/>
              </a:rPr>
              <a:t>Additional Recommendations</a:t>
            </a:r>
            <a:endParaRPr lang="en-US" sz="2200" dirty="0"/>
          </a:p>
        </p:txBody>
      </p:sp>
      <p:sp>
        <p:nvSpPr>
          <p:cNvPr id="5" name="Shape 3"/>
          <p:cNvSpPr/>
          <p:nvPr/>
        </p:nvSpPr>
        <p:spPr>
          <a:xfrm>
            <a:off x="548640" y="594360"/>
            <a:ext cx="914400" cy="32004"/>
          </a:xfrm>
          <a:prstGeom prst="rect">
            <a:avLst/>
          </a:prstGeom>
          <a:solidFill>
            <a:srgbClr val="00E0FF"/>
          </a:solidFill>
          <a:ln/>
        </p:spPr>
      </p:sp>
      <p:sp>
        <p:nvSpPr>
          <p:cNvPr id="6" name="Shape 4"/>
          <p:cNvSpPr/>
          <p:nvPr/>
        </p:nvSpPr>
        <p:spPr>
          <a:xfrm>
            <a:off x="457200" y="868680"/>
            <a:ext cx="8229600" cy="502920"/>
          </a:xfrm>
          <a:prstGeom prst="roundRect">
            <a:avLst>
              <a:gd name="adj" fmla="val 9091"/>
            </a:avLst>
          </a:prstGeom>
          <a:solidFill>
            <a:srgbClr val="1A1D27"/>
          </a:solidFill>
          <a:ln w="6350">
            <a:solidFill>
              <a:srgbClr val="2D3348"/>
            </a:solidFill>
            <a:prstDash val="solid"/>
          </a:ln>
        </p:spPr>
      </p:sp>
      <p:sp>
        <p:nvSpPr>
          <p:cNvPr id="7" name="Text 5"/>
          <p:cNvSpPr/>
          <p:nvPr/>
        </p:nvSpPr>
        <p:spPr>
          <a:xfrm>
            <a:off x="640080" y="91440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1.  [MEDIUM] Implement an Interactive 'Human-in-the-Loop' Fallback UX: Bridge the gap between Cursor's inline editing and Devin's full autonomy by allowing developers to transparently monitor, pause, and inject logic into ADT's real-time reasoning and execution paths.</a:t>
            </a:r>
            <a:endParaRPr lang="en-US" sz="1300" dirty="0"/>
          </a:p>
        </p:txBody>
      </p:sp>
      <p:sp>
        <p:nvSpPr>
          <p:cNvPr id="8" name="Shape 6"/>
          <p:cNvSpPr/>
          <p:nvPr/>
        </p:nvSpPr>
        <p:spPr>
          <a:xfrm>
            <a:off x="457200" y="1463040"/>
            <a:ext cx="8229600" cy="502920"/>
          </a:xfrm>
          <a:prstGeom prst="roundRect">
            <a:avLst>
              <a:gd name="adj" fmla="val 9091"/>
            </a:avLst>
          </a:prstGeom>
          <a:solidFill>
            <a:srgbClr val="1A1D27"/>
          </a:solidFill>
          <a:ln w="6350">
            <a:solidFill>
              <a:srgbClr val="2D3348"/>
            </a:solidFill>
            <a:prstDash val="solid"/>
          </a:ln>
        </p:spPr>
      </p:sp>
      <p:sp>
        <p:nvSpPr>
          <p:cNvPr id="9" name="Text 7"/>
          <p:cNvSpPr/>
          <p:nvPr/>
        </p:nvSpPr>
        <p:spPr>
          <a:xfrm>
            <a:off x="640080" y="150876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2.  [MEDIUM] Niche Domination in Legacy Data Ecosystems: Double down on the GTM strategy targeting the stabilization and refactoring of Oracle, SAP, and Snowflake data ecosystems, as highlighted in current company literature. Build specialized agentic workflows specifically for these rigid environments.</a:t>
            </a:r>
            <a:endParaRPr lang="en-US" sz="1300" dirty="0"/>
          </a:p>
        </p:txBody>
      </p:sp>
      <p:sp>
        <p:nvSpPr>
          <p:cNvPr id="10" name="Shape 8"/>
          <p:cNvSpPr/>
          <p:nvPr/>
        </p:nvSpPr>
        <p:spPr>
          <a:xfrm>
            <a:off x="0" y="4663440"/>
            <a:ext cx="9144000" cy="137160"/>
          </a:xfrm>
          <a:prstGeom prst="rect">
            <a:avLst/>
          </a:prstGeom>
          <a:solidFill>
            <a:srgbClr val="00E0FF"/>
          </a:solidFill>
          <a:ln/>
        </p:spPr>
      </p:sp>
      <p:sp>
        <p:nvSpPr>
          <p:cNvPr id="11" name="Text 9"/>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7185"/>
          </a:solidFill>
          <a:ln/>
        </p:spPr>
      </p:sp>
      <p:sp>
        <p:nvSpPr>
          <p:cNvPr id="3" name="Shape 1"/>
          <p:cNvSpPr/>
          <p:nvPr/>
        </p:nvSpPr>
        <p:spPr>
          <a:xfrm>
            <a:off x="0" y="0"/>
            <a:ext cx="54864" cy="5148072"/>
          </a:xfrm>
          <a:prstGeom prst="rect">
            <a:avLst/>
          </a:prstGeom>
          <a:solidFill>
            <a:srgbClr val="FB7185"/>
          </a:solidFill>
          <a:ln/>
        </p:spPr>
      </p:sp>
      <p:sp>
        <p:nvSpPr>
          <p:cNvPr id="4" name="Text 2"/>
          <p:cNvSpPr/>
          <p:nvPr/>
        </p:nvSpPr>
        <p:spPr>
          <a:xfrm>
            <a:off x="548640" y="228600"/>
            <a:ext cx="8229600" cy="0"/>
          </a:xfrm>
          <a:prstGeom prst="rect">
            <a:avLst/>
          </a:prstGeom>
          <a:noFill/>
          <a:ln/>
        </p:spPr>
        <p:txBody>
          <a:bodyPr wrap="square" rtlCol="0" anchor="ctr"/>
          <a:lstStyle/>
          <a:p>
            <a:pPr indent="0" marL="0">
              <a:buNone/>
            </a:pPr>
            <a:r>
              <a:rPr lang="en-US" sz="2200" b="1" dirty="0">
                <a:solidFill>
                  <a:srgbClr val="FB7185"/>
                </a:solidFill>
                <a:latin typeface="Segoe UI" pitchFamily="34" charset="0"/>
                <a:ea typeface="Segoe UI" pitchFamily="34" charset="-122"/>
                <a:cs typeface="Segoe UI" pitchFamily="34" charset="-120"/>
              </a:rPr>
              <a:t>Key Risks</a:t>
            </a:r>
            <a:endParaRPr lang="en-US" sz="2200" dirty="0"/>
          </a:p>
        </p:txBody>
      </p:sp>
      <p:sp>
        <p:nvSpPr>
          <p:cNvPr id="5" name="Shape 3"/>
          <p:cNvSpPr/>
          <p:nvPr/>
        </p:nvSpPr>
        <p:spPr>
          <a:xfrm>
            <a:off x="548640" y="594360"/>
            <a:ext cx="914400" cy="32004"/>
          </a:xfrm>
          <a:prstGeom prst="rect">
            <a:avLst/>
          </a:prstGeom>
          <a:solidFill>
            <a:srgbClr val="FB7185"/>
          </a:solidFill>
          <a:ln/>
        </p:spPr>
      </p:sp>
      <p:sp>
        <p:nvSpPr>
          <p:cNvPr id="6" name="Shape 4"/>
          <p:cNvSpPr/>
          <p:nvPr/>
        </p:nvSpPr>
        <p:spPr>
          <a:xfrm>
            <a:off x="457200" y="868680"/>
            <a:ext cx="8229600" cy="502920"/>
          </a:xfrm>
          <a:prstGeom prst="roundRect">
            <a:avLst>
              <a:gd name="adj" fmla="val 9091"/>
            </a:avLst>
          </a:prstGeom>
          <a:solidFill>
            <a:srgbClr val="1A1D27"/>
          </a:solidFill>
          <a:ln w="6350">
            <a:solidFill>
              <a:srgbClr val="2D3348"/>
            </a:solidFill>
            <a:prstDash val="solid"/>
          </a:ln>
        </p:spPr>
      </p:sp>
      <p:sp>
        <p:nvSpPr>
          <p:cNvPr id="7" name="Text 5"/>
          <p:cNvSpPr/>
          <p:nvPr/>
        </p:nvSpPr>
        <p:spPr>
          <a:xfrm>
            <a:off x="640080" y="91440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Severe market consolidation: The top 3 AI coding agents currently capture over 70% of market share, creating an oligopoly that is highly resistant to new entrants lacking massive war chests.</a:t>
            </a:r>
            <a:endParaRPr lang="en-US" sz="1300" dirty="0"/>
          </a:p>
        </p:txBody>
      </p:sp>
      <p:sp>
        <p:nvSpPr>
          <p:cNvPr id="8" name="Shape 6"/>
          <p:cNvSpPr/>
          <p:nvPr/>
        </p:nvSpPr>
        <p:spPr>
          <a:xfrm>
            <a:off x="457200" y="1463040"/>
            <a:ext cx="8229600" cy="502920"/>
          </a:xfrm>
          <a:prstGeom prst="roundRect">
            <a:avLst>
              <a:gd name="adj" fmla="val 9091"/>
            </a:avLst>
          </a:prstGeom>
          <a:solidFill>
            <a:srgbClr val="1A1D27"/>
          </a:solidFill>
          <a:ln w="6350">
            <a:solidFill>
              <a:srgbClr val="2D3348"/>
            </a:solidFill>
            <a:prstDash val="solid"/>
          </a:ln>
        </p:spPr>
      </p:sp>
      <p:sp>
        <p:nvSpPr>
          <p:cNvPr id="9" name="Text 7"/>
          <p:cNvSpPr/>
          <p:nvPr/>
        </p:nvSpPr>
        <p:spPr>
          <a:xfrm>
            <a:off x="640080" y="150876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Macro enterprise hesitation driven by the Gartner 2027 forecast, high hallucination rates, and the intense complexity of integrating autonomous agents into bespoke legacy CI/CD pipelines.</a:t>
            </a:r>
            <a:endParaRPr lang="en-US" sz="1300" dirty="0"/>
          </a:p>
        </p:txBody>
      </p:sp>
      <p:sp>
        <p:nvSpPr>
          <p:cNvPr id="10" name="Shape 8"/>
          <p:cNvSpPr/>
          <p:nvPr/>
        </p:nvSpPr>
        <p:spPr>
          <a:xfrm>
            <a:off x="457200" y="2057400"/>
            <a:ext cx="8229600" cy="502920"/>
          </a:xfrm>
          <a:prstGeom prst="roundRect">
            <a:avLst>
              <a:gd name="adj" fmla="val 9091"/>
            </a:avLst>
          </a:prstGeom>
          <a:solidFill>
            <a:srgbClr val="1A1D27"/>
          </a:solidFill>
          <a:ln w="6350">
            <a:solidFill>
              <a:srgbClr val="2D3348"/>
            </a:solidFill>
            <a:prstDash val="solid"/>
          </a:ln>
        </p:spPr>
      </p:sp>
      <p:sp>
        <p:nvSpPr>
          <p:cNvPr id="11" name="Text 9"/>
          <p:cNvSpPr/>
          <p:nvPr/>
        </p:nvSpPr>
        <p:spPr>
          <a:xfrm>
            <a:off x="640080" y="210312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Cost of continuous compute: The inference costs associated with running a '24/7 full-stack AI dev team' could erode gross margins if not properly optimized and priced against human developer equivalents.</a:t>
            </a:r>
            <a:endParaRPr lang="en-US" sz="1300" dirty="0"/>
          </a:p>
        </p:txBody>
      </p:sp>
      <p:sp>
        <p:nvSpPr>
          <p:cNvPr id="12" name="Shape 10"/>
          <p:cNvSpPr/>
          <p:nvPr/>
        </p:nvSpPr>
        <p:spPr>
          <a:xfrm>
            <a:off x="457200" y="2651760"/>
            <a:ext cx="8229600" cy="502920"/>
          </a:xfrm>
          <a:prstGeom prst="roundRect">
            <a:avLst>
              <a:gd name="adj" fmla="val 9091"/>
            </a:avLst>
          </a:prstGeom>
          <a:solidFill>
            <a:srgbClr val="1A1D27"/>
          </a:solidFill>
          <a:ln w="6350">
            <a:solidFill>
              <a:srgbClr val="2D3348"/>
            </a:solidFill>
            <a:prstDash val="solid"/>
          </a:ln>
        </p:spPr>
      </p:sp>
      <p:sp>
        <p:nvSpPr>
          <p:cNvPr id="13" name="Text 11"/>
          <p:cNvSpPr/>
          <p:nvPr/>
        </p:nvSpPr>
        <p:spPr>
          <a:xfrm>
            <a:off x="640080" y="269748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Intellectual property and security vulnerabilities: Autonomous code execution introduces systemic risks regarding agent hijacking, data exfiltration, and the insertion of insecure code patterns.</a:t>
            </a:r>
            <a:endParaRPr lang="en-US" sz="1300" dirty="0"/>
          </a:p>
        </p:txBody>
      </p:sp>
      <p:sp>
        <p:nvSpPr>
          <p:cNvPr id="14" name="Shape 12"/>
          <p:cNvSpPr/>
          <p:nvPr/>
        </p:nvSpPr>
        <p:spPr>
          <a:xfrm>
            <a:off x="0" y="4663440"/>
            <a:ext cx="9144000" cy="137160"/>
          </a:xfrm>
          <a:prstGeom prst="rect">
            <a:avLst/>
          </a:prstGeom>
          <a:solidFill>
            <a:srgbClr val="00E0FF"/>
          </a:solidFill>
          <a:ln/>
        </p:spPr>
      </p:sp>
      <p:sp>
        <p:nvSpPr>
          <p:cNvPr id="15" name="Text 13"/>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BBF24"/>
          </a:solidFill>
          <a:ln/>
        </p:spPr>
      </p:sp>
      <p:sp>
        <p:nvSpPr>
          <p:cNvPr id="3" name="Shape 1"/>
          <p:cNvSpPr/>
          <p:nvPr/>
        </p:nvSpPr>
        <p:spPr>
          <a:xfrm>
            <a:off x="0" y="0"/>
            <a:ext cx="54864" cy="5148072"/>
          </a:xfrm>
          <a:prstGeom prst="rect">
            <a:avLst/>
          </a:prstGeom>
          <a:solidFill>
            <a:srgbClr val="FBBF24"/>
          </a:solidFill>
          <a:ln/>
        </p:spPr>
      </p:sp>
      <p:sp>
        <p:nvSpPr>
          <p:cNvPr id="4" name="Text 2"/>
          <p:cNvSpPr/>
          <p:nvPr/>
        </p:nvSpPr>
        <p:spPr>
          <a:xfrm>
            <a:off x="548640" y="228600"/>
            <a:ext cx="8229600" cy="0"/>
          </a:xfrm>
          <a:prstGeom prst="rect">
            <a:avLst/>
          </a:prstGeom>
          <a:noFill/>
          <a:ln/>
        </p:spPr>
        <p:txBody>
          <a:bodyPr wrap="square" rtlCol="0" anchor="ctr"/>
          <a:lstStyle/>
          <a:p>
            <a:pPr indent="0" marL="0">
              <a:buNone/>
            </a:pPr>
            <a:r>
              <a:rPr lang="en-US" sz="2200" b="1" dirty="0">
                <a:solidFill>
                  <a:srgbClr val="FBBF24"/>
                </a:solidFill>
                <a:latin typeface="Segoe UI" pitchFamily="34" charset="0"/>
                <a:ea typeface="Segoe UI" pitchFamily="34" charset="-122"/>
                <a:cs typeface="Segoe UI" pitchFamily="34" charset="-120"/>
              </a:rPr>
              <a:t>Open Questions for Founders</a:t>
            </a:r>
            <a:endParaRPr lang="en-US" sz="2200" dirty="0"/>
          </a:p>
        </p:txBody>
      </p:sp>
      <p:sp>
        <p:nvSpPr>
          <p:cNvPr id="5" name="Shape 3"/>
          <p:cNvSpPr/>
          <p:nvPr/>
        </p:nvSpPr>
        <p:spPr>
          <a:xfrm>
            <a:off x="548640" y="594360"/>
            <a:ext cx="914400" cy="32004"/>
          </a:xfrm>
          <a:prstGeom prst="rect">
            <a:avLst/>
          </a:prstGeom>
          <a:solidFill>
            <a:srgbClr val="FBBF24"/>
          </a:solidFill>
          <a:ln/>
        </p:spPr>
      </p:sp>
      <p:sp>
        <p:nvSpPr>
          <p:cNvPr id="6" name="Shape 4"/>
          <p:cNvSpPr/>
          <p:nvPr/>
        </p:nvSpPr>
        <p:spPr>
          <a:xfrm>
            <a:off x="457200" y="868680"/>
            <a:ext cx="8229600" cy="502920"/>
          </a:xfrm>
          <a:prstGeom prst="roundRect">
            <a:avLst>
              <a:gd name="adj" fmla="val 9091"/>
            </a:avLst>
          </a:prstGeom>
          <a:solidFill>
            <a:srgbClr val="1A1D27"/>
          </a:solidFill>
          <a:ln w="6350">
            <a:solidFill>
              <a:srgbClr val="2D3348"/>
            </a:solidFill>
            <a:prstDash val="solid"/>
          </a:ln>
        </p:spPr>
      </p:sp>
      <p:sp>
        <p:nvSpPr>
          <p:cNvPr id="7" name="Text 5"/>
          <p:cNvSpPr/>
          <p:nvPr/>
        </p:nvSpPr>
        <p:spPr>
          <a:xfrm>
            <a:off x="640080" y="91440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What are the precise, verified SWE-bench scores or equivalent objective performance metrics for Glyphor ADT, as these are currently unavailable to the wider market?</a:t>
            </a:r>
            <a:endParaRPr lang="en-US" sz="1300" dirty="0"/>
          </a:p>
        </p:txBody>
      </p:sp>
      <p:sp>
        <p:nvSpPr>
          <p:cNvPr id="8" name="Shape 6"/>
          <p:cNvSpPr/>
          <p:nvPr/>
        </p:nvSpPr>
        <p:spPr>
          <a:xfrm>
            <a:off x="457200" y="1463040"/>
            <a:ext cx="8229600" cy="502920"/>
          </a:xfrm>
          <a:prstGeom prst="roundRect">
            <a:avLst>
              <a:gd name="adj" fmla="val 9091"/>
            </a:avLst>
          </a:prstGeom>
          <a:solidFill>
            <a:srgbClr val="1A1D27"/>
          </a:solidFill>
          <a:ln w="6350">
            <a:solidFill>
              <a:srgbClr val="2D3348"/>
            </a:solidFill>
            <a:prstDash val="solid"/>
          </a:ln>
        </p:spPr>
      </p:sp>
      <p:sp>
        <p:nvSpPr>
          <p:cNvPr id="9" name="Text 7"/>
          <p:cNvSpPr/>
          <p:nvPr/>
        </p:nvSpPr>
        <p:spPr>
          <a:xfrm>
            <a:off x="640080" y="150876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Does the strategic roadmap prioritize top-down enterprise sales focused on governance/security (competing against System Integrators), or bottom-up product-led growth targeting individual developers (competing against Cursor)?</a:t>
            </a:r>
            <a:endParaRPr lang="en-US" sz="1300" dirty="0"/>
          </a:p>
        </p:txBody>
      </p:sp>
      <p:sp>
        <p:nvSpPr>
          <p:cNvPr id="10" name="Shape 8"/>
          <p:cNvSpPr/>
          <p:nvPr/>
        </p:nvSpPr>
        <p:spPr>
          <a:xfrm>
            <a:off x="457200" y="2057400"/>
            <a:ext cx="8229600" cy="502920"/>
          </a:xfrm>
          <a:prstGeom prst="roundRect">
            <a:avLst>
              <a:gd name="adj" fmla="val 9091"/>
            </a:avLst>
          </a:prstGeom>
          <a:solidFill>
            <a:srgbClr val="1A1D27"/>
          </a:solidFill>
          <a:ln w="6350">
            <a:solidFill>
              <a:srgbClr val="2D3348"/>
            </a:solidFill>
            <a:prstDash val="solid"/>
          </a:ln>
        </p:spPr>
      </p:sp>
      <p:sp>
        <p:nvSpPr>
          <p:cNvPr id="11" name="Text 9"/>
          <p:cNvSpPr/>
          <p:nvPr/>
        </p:nvSpPr>
        <p:spPr>
          <a:xfrm>
            <a:off x="640080" y="210312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How does Glyphor Pulse intend to maintain a competitive moat against foundational video models like Google Veo 3.1 and OpenAI Sora 2, which are rapidly advancing their native capabilities?</a:t>
            </a:r>
            <a:endParaRPr lang="en-US" sz="1300" dirty="0"/>
          </a:p>
        </p:txBody>
      </p:sp>
      <p:sp>
        <p:nvSpPr>
          <p:cNvPr id="12" name="Shape 10"/>
          <p:cNvSpPr/>
          <p:nvPr/>
        </p:nvSpPr>
        <p:spPr>
          <a:xfrm>
            <a:off x="457200" y="2651760"/>
            <a:ext cx="8229600" cy="502920"/>
          </a:xfrm>
          <a:prstGeom prst="roundRect">
            <a:avLst>
              <a:gd name="adj" fmla="val 9091"/>
            </a:avLst>
          </a:prstGeom>
          <a:solidFill>
            <a:srgbClr val="1A1D27"/>
          </a:solidFill>
          <a:ln w="6350">
            <a:solidFill>
              <a:srgbClr val="2D3348"/>
            </a:solidFill>
            <a:prstDash val="solid"/>
          </a:ln>
        </p:spPr>
      </p:sp>
      <p:sp>
        <p:nvSpPr>
          <p:cNvPr id="13" name="Text 11"/>
          <p:cNvSpPr/>
          <p:nvPr/>
        </p:nvSpPr>
        <p:spPr>
          <a:xfrm>
            <a:off x="640080" y="269748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What architectural mechanisms are in place within ADT to prevent 'agentic amnesia' and compounding error rates during complex, multi-day autonomous coding tasks?</a:t>
            </a:r>
            <a:endParaRPr lang="en-US" sz="1300" dirty="0"/>
          </a:p>
        </p:txBody>
      </p:sp>
      <p:sp>
        <p:nvSpPr>
          <p:cNvPr id="14" name="Shape 12"/>
          <p:cNvSpPr/>
          <p:nvPr/>
        </p:nvSpPr>
        <p:spPr>
          <a:xfrm>
            <a:off x="457200" y="3246120"/>
            <a:ext cx="8229600" cy="502920"/>
          </a:xfrm>
          <a:prstGeom prst="roundRect">
            <a:avLst>
              <a:gd name="adj" fmla="val 9091"/>
            </a:avLst>
          </a:prstGeom>
          <a:solidFill>
            <a:srgbClr val="1A1D27"/>
          </a:solidFill>
          <a:ln w="6350">
            <a:solidFill>
              <a:srgbClr val="2D3348"/>
            </a:solidFill>
            <a:prstDash val="solid"/>
          </a:ln>
        </p:spPr>
      </p:sp>
      <p:sp>
        <p:nvSpPr>
          <p:cNvPr id="15" name="Text 13"/>
          <p:cNvSpPr/>
          <p:nvPr/>
        </p:nvSpPr>
        <p:spPr>
          <a:xfrm>
            <a:off x="640080" y="3291840"/>
            <a:ext cx="7863840" cy="411480"/>
          </a:xfrm>
          <a:prstGeom prst="rect">
            <a:avLst/>
          </a:prstGeom>
          <a:noFill/>
          <a:ln/>
        </p:spPr>
        <p:txBody>
          <a:bodyPr wrap="square" rtlCol="0" anchor="ctr"/>
          <a:lstStyle/>
          <a:p>
            <a:pPr indent="0" marL="0">
              <a:lnSpc>
                <a:spcPct val="115000"/>
              </a:lnSpc>
              <a:buNone/>
            </a:pPr>
            <a:r>
              <a:rPr lang="en-US" sz="1300" dirty="0">
                <a:solidFill>
                  <a:srgbClr val="E5E7EB"/>
                </a:solidFill>
                <a:latin typeface="Segoe UI" pitchFamily="34" charset="0"/>
                <a:ea typeface="Segoe UI" pitchFamily="34" charset="-122"/>
                <a:cs typeface="Segoe UI" pitchFamily="34" charset="-120"/>
              </a:rPr>
              <a:t>•  How are you managing the brand and resource split between building a highly technical enterprise coding agent (Fuse) and a consumer-facing creative media generator (Pulse)?</a:t>
            </a:r>
            <a:endParaRPr lang="en-US" sz="1300" dirty="0"/>
          </a:p>
        </p:txBody>
      </p:sp>
      <p:sp>
        <p:nvSpPr>
          <p:cNvPr id="16" name="Shape 14"/>
          <p:cNvSpPr/>
          <p:nvPr/>
        </p:nvSpPr>
        <p:spPr>
          <a:xfrm>
            <a:off x="0" y="4663440"/>
            <a:ext cx="9144000" cy="137160"/>
          </a:xfrm>
          <a:prstGeom prst="rect">
            <a:avLst/>
          </a:prstGeom>
          <a:solidFill>
            <a:srgbClr val="00E0FF"/>
          </a:solidFill>
          <a:ln/>
        </p:spPr>
      </p:sp>
      <p:sp>
        <p:nvSpPr>
          <p:cNvPr id="17" name="Text 15"/>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2377440"/>
            <a:ext cx="9144000" cy="36576"/>
          </a:xfrm>
          <a:prstGeom prst="rect">
            <a:avLst/>
          </a:prstGeom>
          <a:solidFill>
            <a:srgbClr val="00E0FF"/>
          </a:solidFill>
          <a:ln/>
        </p:spPr>
      </p:sp>
      <p:sp>
        <p:nvSpPr>
          <p:cNvPr id="3" name="Text 1"/>
          <p:cNvSpPr/>
          <p:nvPr/>
        </p:nvSpPr>
        <p:spPr>
          <a:xfrm>
            <a:off x="548640" y="1645920"/>
            <a:ext cx="8046720" cy="0"/>
          </a:xfrm>
          <a:prstGeom prst="rect">
            <a:avLst/>
          </a:prstGeom>
          <a:noFill/>
          <a:ln/>
        </p:spPr>
        <p:txBody>
          <a:bodyPr wrap="square" rtlCol="0" anchor="ctr"/>
          <a:lstStyle/>
          <a:p>
            <a:pPr algn="ctr" indent="0" marL="0">
              <a:buNone/>
            </a:pPr>
            <a:r>
              <a:rPr lang="en-US" sz="2800" b="1" spc="600" kern="0" dirty="0">
                <a:solidFill>
                  <a:srgbClr val="00E0FF"/>
                </a:solidFill>
                <a:latin typeface="Segoe UI" pitchFamily="34" charset="0"/>
                <a:ea typeface="Segoe UI" pitchFamily="34" charset="-122"/>
                <a:cs typeface="Segoe UI" pitchFamily="34" charset="-120"/>
              </a:rPr>
              <a:t>GLYPHOR</a:t>
            </a:r>
            <a:endParaRPr lang="en-US" sz="2800" dirty="0"/>
          </a:p>
        </p:txBody>
      </p:sp>
      <p:sp>
        <p:nvSpPr>
          <p:cNvPr id="4" name="Text 2"/>
          <p:cNvSpPr/>
          <p:nvPr/>
        </p:nvSpPr>
        <p:spPr>
          <a:xfrm>
            <a:off x="548640" y="2651760"/>
            <a:ext cx="8046720" cy="0"/>
          </a:xfrm>
          <a:prstGeom prst="rect">
            <a:avLst/>
          </a:prstGeom>
          <a:noFill/>
          <a:ln/>
        </p:spPr>
        <p:txBody>
          <a:bodyPr wrap="square" rtlCol="0" anchor="ctr"/>
          <a:lstStyle/>
          <a:p>
            <a:pPr algn="ctr" indent="0" marL="0">
              <a:buNone/>
            </a:pPr>
            <a:r>
              <a:rPr lang="en-US" sz="1400" dirty="0">
                <a:solidFill>
                  <a:srgbClr val="8B95A5"/>
                </a:solidFill>
                <a:latin typeface="Segoe UI" pitchFamily="34" charset="0"/>
                <a:ea typeface="Segoe UI" pitchFamily="34" charset="-122"/>
                <a:cs typeface="Segoe UI" pitchFamily="34" charset="-120"/>
              </a:rPr>
              <a:t>Strategic Intelligence Platform</a:t>
            </a:r>
            <a:endParaRPr lang="en-US" sz="1400" dirty="0"/>
          </a:p>
        </p:txBody>
      </p:sp>
      <p:sp>
        <p:nvSpPr>
          <p:cNvPr id="5" name="Text 3"/>
          <p:cNvSpPr/>
          <p:nvPr/>
        </p:nvSpPr>
        <p:spPr>
          <a:xfrm>
            <a:off x="548640" y="3200400"/>
            <a:ext cx="8046720" cy="0"/>
          </a:xfrm>
          <a:prstGeom prst="rect">
            <a:avLst/>
          </a:prstGeom>
          <a:noFill/>
          <a:ln/>
        </p:spPr>
        <p:txBody>
          <a:bodyPr wrap="square" rtlCol="0" anchor="ctr"/>
          <a:lstStyle/>
          <a:p>
            <a:pPr algn="ctr" indent="0" marL="0">
              <a:buNone/>
            </a:pPr>
            <a:r>
              <a:rPr lang="en-US" sz="1000" dirty="0">
                <a:solidFill>
                  <a:srgbClr val="8B95A5"/>
                </a:solidFill>
                <a:latin typeface="Segoe UI" pitchFamily="34" charset="0"/>
                <a:ea typeface="Segoe UI" pitchFamily="34" charset="-122"/>
                <a:cs typeface="Segoe UI" pitchFamily="34" charset="-120"/>
              </a:rPr>
              <a:t>Generated 3/25/2026 · Confidential</a:t>
            </a:r>
            <a:endParaRPr lang="en-US" sz="1000" dirty="0"/>
          </a:p>
        </p:txBody>
      </p:sp>
      <p:sp>
        <p:nvSpPr>
          <p:cNvPr id="6" name="Shape 4"/>
          <p:cNvSpPr/>
          <p:nvPr/>
        </p:nvSpPr>
        <p:spPr>
          <a:xfrm>
            <a:off x="0" y="4663440"/>
            <a:ext cx="9144000" cy="137160"/>
          </a:xfrm>
          <a:prstGeom prst="rect">
            <a:avLst/>
          </a:prstGeom>
          <a:solidFill>
            <a:srgbClr val="00E0FF"/>
          </a:solidFill>
          <a:ln/>
        </p:spPr>
      </p:sp>
      <p:sp>
        <p:nvSpPr>
          <p:cNvPr id="7" name="Text 5"/>
          <p:cNvSpPr/>
          <p:nvPr/>
        </p:nvSpPr>
        <p:spPr>
          <a:xfrm>
            <a:off x="274320" y="4434840"/>
            <a:ext cx="4572000" cy="0"/>
          </a:xfrm>
          <a:prstGeom prst="rect">
            <a:avLst/>
          </a:prstGeom>
          <a:noFill/>
          <a:ln/>
        </p:spPr>
        <p:txBody>
          <a:bodyPr wrap="square" rtlCol="0" anchor="ctr"/>
          <a:lstStyle/>
          <a:p>
            <a:pPr indent="0" marL="0">
              <a:buNone/>
            </a:pPr>
            <a:r>
              <a:rPr lang="en-US" sz="900" dirty="0">
                <a:solidFill>
                  <a:srgbClr val="8B95A5"/>
                </a:solidFill>
                <a:latin typeface="Segoe UI" pitchFamily="34" charset="0"/>
                <a:ea typeface="Segoe UI" pitchFamily="34" charset="-122"/>
                <a:cs typeface="Segoe UI" pitchFamily="34" charset="-120"/>
              </a:rPr>
              <a:t>GLYPHOR AI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Analysis: Competitive Landscape</dc:title>
  <dc:subject>PptxGenJS Presentation</dc:subject>
  <dc:creator>Glyphor AI</dc:creator>
  <cp:lastModifiedBy>Glyphor AI</cp:lastModifiedBy>
  <cp:revision>1</cp:revision>
  <dcterms:created xsi:type="dcterms:W3CDTF">2026-03-25T14:24:19Z</dcterms:created>
  <dcterms:modified xsi:type="dcterms:W3CDTF">2026-03-25T14:24:19Z</dcterms:modified>
</cp:coreProperties>
</file>